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5" r:id="rId5"/>
    <p:sldMasterId id="2147483724" r:id="rId6"/>
  </p:sldMasterIdLst>
  <p:notesMasterIdLst>
    <p:notesMasterId r:id="rId17"/>
  </p:notesMasterIdLst>
  <p:handoutMasterIdLst>
    <p:handoutMasterId r:id="rId18"/>
  </p:handoutMasterIdLst>
  <p:sldIdLst>
    <p:sldId id="7150" r:id="rId7"/>
    <p:sldId id="7148" r:id="rId8"/>
    <p:sldId id="7151" r:id="rId9"/>
    <p:sldId id="7152" r:id="rId10"/>
    <p:sldId id="7156" r:id="rId11"/>
    <p:sldId id="7157" r:id="rId12"/>
    <p:sldId id="7159" r:id="rId13"/>
    <p:sldId id="7158" r:id="rId14"/>
    <p:sldId id="7160" r:id="rId15"/>
    <p:sldId id="7155" r:id="rId16"/>
  </p:sldIdLst>
  <p:sldSz cx="12192000" cy="6858000"/>
  <p:notesSz cx="9928225" cy="679767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rdan Gledec" initials="GG" lastIdx="1" clrIdx="0">
    <p:extLst>
      <p:ext uri="{19B8F6BF-5375-455C-9EA6-DF929625EA0E}">
        <p15:presenceInfo xmlns:p15="http://schemas.microsoft.com/office/powerpoint/2012/main" userId="S::gledec@fer.hr::9f499ba0-be08-44a8-8a6f-8eab7220b7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ECB000"/>
    <a:srgbClr val="00003F"/>
    <a:srgbClr val="00002D"/>
    <a:srgbClr val="3B3B3B"/>
    <a:srgbClr val="BFBFBF"/>
    <a:srgbClr val="EBEAE8"/>
    <a:srgbClr val="363636"/>
    <a:srgbClr val="020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FD482-B69E-4DD5-B941-11BCE126FA1D}" type="datetimeFigureOut">
              <a:rPr lang="hr-HR" smtClean="0"/>
              <a:t>4.6.2024.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03FDB-A49B-43CE-9AFA-BC3A4EE4CC8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67345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A56C0-2A61-4948-B38C-965D33F4E329}" type="datetimeFigureOut">
              <a:rPr lang="hr-HR" smtClean="0"/>
              <a:t>4.6.2024.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032A-A6F4-4220-9ADA-2AE7933DC1F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05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146800"/>
            <a:ext cx="2552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3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146800"/>
            <a:ext cx="2552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5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3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ECE7DB-22F7-453C-9042-3A7E76D70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3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/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9817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749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3550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7058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929520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BFBFB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723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3715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t>4.6.2024.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077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t>4.6.2024.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06101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028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12078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9B807-777A-48C3-B248-E21A74284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40622" y="4469906"/>
            <a:ext cx="1036756" cy="755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94A5E-676A-49A4-AC3B-FDADD25A7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82" y="1414956"/>
            <a:ext cx="1036756" cy="755968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62E0AC3-607C-436C-BF58-1272FE0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1680341"/>
            <a:ext cx="6096000" cy="30502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D3A8B4C-F64A-4192-97AE-9B3AD38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7E2A-7126-4C10-96F2-C7E41986C188}" type="datetime1">
              <a:rPr lang="hr-HR" smtClean="0"/>
              <a:t>4.6.2024.</a:t>
            </a:fld>
            <a:endParaRPr lang="hr-HR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7E85B49-A070-46FB-A986-B4333436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2F36DB-1174-4E85-9F97-D31B9B1F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011FCB-049E-4685-88DC-7CB69F627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5650" y="4847890"/>
            <a:ext cx="4562475" cy="495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0893D3-A974-4966-83AF-23172AC765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7403A-A107-4F4A-93FE-B8075E84B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85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B763-6E35-4F5E-A4EF-512DE4B2A1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49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CA353-9329-42A9-ADC5-244549CBA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06574-F938-48B1-8BFD-36BDB3413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9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75140-D279-4AE9-A57D-9034D8EA8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2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>
                <a:solidFill>
                  <a:srgbClr val="474747"/>
                </a:solidFill>
              </a:defRPr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1E6BD04-CE4A-4821-8B2D-748E94DAB577}" type="datetime1">
              <a:rPr lang="hr-HR" smtClean="0"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E1428-ABA2-44FD-8B09-E1820FCCCB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325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1153F-EC32-4DA8-BCC3-42EB9F8C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38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B6D74-52BB-4D57-88CA-E3A621BA3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9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F7DCD-357E-4E95-A118-6D94B73A6D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76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D823A-034B-45D7-B4AF-163A8E9AB1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14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E45CF-A711-4D15-91B6-14FEBC310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65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CEE060-EA2F-4730-8EFD-299C92FC2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51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t>4.6.2024.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76327-F4EA-4207-8A05-31AD4ACBD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30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t>4.6.2024.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F7369-43B0-450B-97D3-3161061A6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47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800">
                <a:solidFill>
                  <a:srgbClr val="474747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C87DC-AC6E-4A17-8A89-541F29D5E8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70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2487-E1A4-490B-ABD3-63931C723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9B807-777A-48C3-B248-E21A74284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40622" y="4469906"/>
            <a:ext cx="1036756" cy="755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94A5E-676A-49A4-AC3B-FDADD25A7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82" y="1414956"/>
            <a:ext cx="1036756" cy="755968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F62E0AC3-607C-436C-BF58-1272FE0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1680341"/>
            <a:ext cx="6096000" cy="305023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D3A8B4C-F64A-4192-97AE-9B3AD38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7E2A-7126-4C10-96F2-C7E41986C188}" type="datetime1">
              <a:rPr lang="hr-HR" smtClean="0"/>
              <a:t>4.6.2024.</a:t>
            </a:fld>
            <a:endParaRPr lang="hr-HR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7E85B49-A070-46FB-A986-B4333436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2F36DB-1174-4E85-9F97-D31B9B1F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011FCB-049E-4685-88DC-7CB69F627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5650" y="4847890"/>
            <a:ext cx="4562475" cy="495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4747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4D50A-555D-4946-8317-8EFE07552F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309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8CC527-9B1A-4421-820F-4C7F93672631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7403A-A107-4F4A-93FE-B8075E84BB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88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4884965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8A645D-8DC1-4103-ACCF-1D0DCEA4CEF0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B763-6E35-4F5E-A4EF-512DE4B2A1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429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225971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888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A0B49-8851-4372-9C14-A77FB03183F4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CA353-9329-42A9-ADC5-244549CB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767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435403" y="0"/>
            <a:ext cx="5756597" cy="6858000"/>
          </a:xfrm>
        </p:spPr>
        <p:txBody>
          <a:bodyPr/>
          <a:lstStyle/>
          <a:p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944" y="2682610"/>
            <a:ext cx="5244647" cy="303238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82944" y="504536"/>
            <a:ext cx="5243783" cy="196811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9CA4D2-D8CB-45F0-AF23-5CF4F892E90D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06574-F938-48B1-8BFD-36BDB34132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791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2089" y="3601376"/>
            <a:ext cx="3328695" cy="222745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838201" y="2707251"/>
            <a:ext cx="3332583" cy="74187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4DA58-1A42-43E2-BAA5-902A6FA09D64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38201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442928" y="658762"/>
            <a:ext cx="3332583" cy="1809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047655" y="658762"/>
            <a:ext cx="3332583" cy="1809750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75140-D279-4AE9-A57D-9034D8EA8D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526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816" y="1938129"/>
            <a:ext cx="7268934" cy="4034045"/>
          </a:xfrm>
        </p:spPr>
        <p:txBody>
          <a:bodyPr vert="horz" lIns="91440" tIns="45720" rIns="91440" bIns="45720" rtlCol="0" anchor="b" anchorCtr="0">
            <a:normAutofit fontScale="77500" lnSpcReduction="20000"/>
          </a:bodyPr>
          <a:lstStyle>
            <a:lvl1pPr marL="0" indent="0">
              <a:buNone/>
              <a:defRPr lang="hr-HR" sz="3200" smtClean="0">
                <a:solidFill>
                  <a:srgbClr val="474747"/>
                </a:solidFill>
              </a:defRPr>
            </a:lvl1pPr>
          </a:lstStyle>
          <a:p>
            <a:pPr marL="228600" lvl="0" indent="-228600">
              <a:lnSpc>
                <a:spcPct val="120000"/>
              </a:lnSpc>
            </a:pPr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442928" y="496957"/>
            <a:ext cx="7272822" cy="12125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1E6BD04-CE4A-4821-8B2D-748E94DAB577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52400" y="1"/>
            <a:ext cx="4018383" cy="5972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8E1428-ABA2-44FD-8B09-E1820FCCCB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720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04F7-34A5-4CD4-86CE-4F2BAB4575DB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DA989896-E538-436D-B731-F8D7B75A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1153F-EC32-4DA8-BCC3-42EB9F8CE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8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33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B6B3-742C-49F8-A78B-F65A88979D8F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10764836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B6D74-52BB-4D57-88CA-E3A621BA3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8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65502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E708-C5D4-4069-A98E-51799BE2691A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746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9786" y="1704181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F7DCD-357E-4E95-A118-6D94B73A6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08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BB70B-B814-4A7F-9281-E754DDC73F92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3081D20-CB8B-4F6B-9C37-577FFD006A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A188BE-D249-4A88-AE03-7F57D65DF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713980"/>
            <a:ext cx="7132117" cy="419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>
                <a:solidFill>
                  <a:srgbClr val="474747"/>
                </a:solidFill>
              </a:defRPr>
            </a:lvl1pPr>
            <a:lvl2pPr>
              <a:lnSpc>
                <a:spcPct val="100000"/>
              </a:lnSpc>
              <a:defRPr>
                <a:solidFill>
                  <a:srgbClr val="474747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474747"/>
                </a:solidFill>
              </a:defRPr>
            </a:lvl3pPr>
            <a:lvl4pPr>
              <a:lnSpc>
                <a:spcPct val="100000"/>
              </a:lnSpc>
              <a:defRPr>
                <a:solidFill>
                  <a:srgbClr val="474747"/>
                </a:solidFill>
              </a:defRPr>
            </a:lvl4pPr>
            <a:lvl5pPr>
              <a:lnSpc>
                <a:spcPct val="100000"/>
              </a:lnSpc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51CA1A-225F-4FB1-8C30-C453CDDE0BF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04188" y="1695450"/>
            <a:ext cx="3495675" cy="4217988"/>
          </a:xfrm>
          <a:ln>
            <a:solidFill>
              <a:schemeClr val="tx1">
                <a:lumMod val="95000"/>
              </a:scheme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hr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D823A-034B-45D7-B4AF-163A8E9AB1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11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9702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70AD-6CCE-40AF-81A0-F4647088DACC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39788" y="1713981"/>
            <a:ext cx="10763247" cy="419945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47474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2D844CB-5A47-4207-9B24-46DA77E04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E20C9C-F54B-4C1E-8505-0D6B7A16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406400"/>
            <a:ext cx="10764837" cy="1164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4E45CF-A711-4D15-91B6-14FEBC310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943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B759-CD69-4795-A56D-DA211CEF0CA9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DA9828C-0F09-42F5-8A9C-5073EB039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104927-4214-4F19-B418-94C203F128C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9787" y="2322761"/>
            <a:ext cx="5256213" cy="359067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DBD3EAC-EDFE-41C3-A36E-87A60FD7452E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4451" y="2322759"/>
            <a:ext cx="5204632" cy="3590679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74747"/>
                </a:solidFill>
              </a:defRPr>
            </a:lvl1pPr>
            <a:lvl2pPr>
              <a:defRPr sz="22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600"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CEE060-EA2F-4730-8EFD-299C92FC2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31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66700"/>
            <a:ext cx="10766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33869"/>
            <a:ext cx="5256212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412" y="1665289"/>
            <a:ext cx="5256212" cy="881268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47474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3544-F369-4EA2-9802-1BA865814296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2" name="Footer Placeholder 13">
            <a:extLst>
              <a:ext uri="{FF2B5EF4-FFF2-40B4-BE49-F238E27FC236}">
                <a16:creationId xmlns:a16="http://schemas.microsoft.com/office/drawing/2014/main" id="{17CA7F56-B6DF-4B72-B983-4ABF5EC376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8125A28-7430-42EE-A541-AD2F86A7E0C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48412" y="2633868"/>
            <a:ext cx="5256213" cy="3279569"/>
          </a:xfrm>
        </p:spPr>
        <p:txBody>
          <a:bodyPr/>
          <a:lstStyle>
            <a:lvl1pPr>
              <a:defRPr sz="26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>
                <a:solidFill>
                  <a:srgbClr val="474747"/>
                </a:solidFill>
              </a:defRPr>
            </a:lvl3pPr>
            <a:lvl4pPr>
              <a:defRPr>
                <a:solidFill>
                  <a:srgbClr val="474747"/>
                </a:solidFill>
              </a:defRPr>
            </a:lvl4pPr>
            <a:lvl5pPr>
              <a:defRPr>
                <a:solidFill>
                  <a:srgbClr val="4747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76327-F4EA-4207-8A05-31AD4ACBD0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79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3D7D-92CA-452C-B9D0-1DF31E7709A0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A079A920-00F3-4EEC-8FD5-4A87016125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5F7369-43B0-450B-97D3-3161061A6C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  <p:pic>
        <p:nvPicPr>
          <p:cNvPr id="7" name="Picture 2" descr="D:\Users\mmatijasevic\ZZT-FER\_Odbor_za_dr_studije\_Dan_doktorata_2017\_2020\dizajnnaslovnice\DIZAJN_1_3_italic_senf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5945" y="0"/>
            <a:ext cx="3716055" cy="26270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50018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9665"/>
            <a:ext cx="3932237" cy="105319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4010" y="587376"/>
            <a:ext cx="6172200" cy="533989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74747"/>
                </a:solidFill>
              </a:defRPr>
            </a:lvl1pPr>
            <a:lvl2pPr>
              <a:defRPr sz="2400">
                <a:solidFill>
                  <a:srgbClr val="474747"/>
                </a:solidFill>
              </a:defRPr>
            </a:lvl2pPr>
            <a:lvl3pPr>
              <a:defRPr sz="2000">
                <a:solidFill>
                  <a:srgbClr val="474747"/>
                </a:solidFill>
              </a:defRPr>
            </a:lvl3pPr>
            <a:lvl4pPr>
              <a:defRPr sz="1800">
                <a:solidFill>
                  <a:srgbClr val="474747"/>
                </a:solidFill>
              </a:defRPr>
            </a:lvl4pPr>
            <a:lvl5pPr>
              <a:defRPr sz="1800">
                <a:solidFill>
                  <a:srgbClr val="474747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12471"/>
            <a:ext cx="3932237" cy="4114799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184A-8A12-46DC-858F-40BB764B6877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57CFA1DC-DF2C-4C4F-8172-9DA3F1D03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4C87DC-AC6E-4A17-8A89-541F29D5E8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769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5993"/>
            <a:ext cx="3932237" cy="97404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"/>
            <a:ext cx="7008812" cy="6041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9614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74747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A5E9-C184-4225-B8DD-D288AF17D96D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0" name="Footer Placeholder 13">
            <a:extLst>
              <a:ext uri="{FF2B5EF4-FFF2-40B4-BE49-F238E27FC236}">
                <a16:creationId xmlns:a16="http://schemas.microsoft.com/office/drawing/2014/main" id="{A16F082B-19D2-4D9B-90A3-8B13759846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199849" y="6356350"/>
            <a:ext cx="3495675" cy="365125"/>
          </a:xfrm>
        </p:spPr>
        <p:txBody>
          <a:bodyPr/>
          <a:lstStyle/>
          <a:p>
            <a:endParaRPr lang="hr-H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1C2487-E1A4-490B-ABD3-63931C723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143625"/>
            <a:ext cx="12763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0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39434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49" r:id="rId3"/>
    <p:sldLayoutId id="2147483661" r:id="rId4"/>
    <p:sldLayoutId id="2147483662" r:id="rId5"/>
    <p:sldLayoutId id="2147483678" r:id="rId6"/>
    <p:sldLayoutId id="2147483660" r:id="rId7"/>
    <p:sldLayoutId id="2147483650" r:id="rId8"/>
    <p:sldLayoutId id="2147483704" r:id="rId9"/>
    <p:sldLayoutId id="2147483703" r:id="rId10"/>
    <p:sldLayoutId id="2147483651" r:id="rId11"/>
    <p:sldLayoutId id="2147483652" r:id="rId12"/>
    <p:sldLayoutId id="2147483653" r:id="rId13"/>
    <p:sldLayoutId id="2147483654" r:id="rId14"/>
    <p:sldLayoutId id="2147483656" r:id="rId15"/>
    <p:sldLayoutId id="2147483657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18317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rgbClr val="4747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rgbClr val="4747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rgbClr val="4747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rgbClr val="4747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rgbClr val="4747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7" y="657225"/>
            <a:ext cx="10764837" cy="1476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312988"/>
            <a:ext cx="10764836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6175" y="6356350"/>
            <a:ext cx="1162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0D51C-683D-426D-A5E0-C8962511EF8A}" type="datetime1">
              <a:rPr lang="hr-HR" smtClean="0"/>
              <a:pPr/>
              <a:t>4.6.2024.</a:t>
            </a:fld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71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D362A1-5339-458A-BCD2-7DD26D14AD42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99849" y="6356350"/>
            <a:ext cx="3495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52400" cy="34194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1224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obert" panose="00000500000000000000" pitchFamily="50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500000000000000" pitchFamily="34" charset="0"/>
        <a:buChar char="•"/>
        <a:defRPr sz="2800" kern="1200">
          <a:solidFill>
            <a:srgbClr val="47474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400" kern="1200">
          <a:solidFill>
            <a:srgbClr val="4747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200" kern="1200">
          <a:solidFill>
            <a:srgbClr val="4747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2000" kern="1200">
          <a:solidFill>
            <a:srgbClr val="4747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rgbClr val="4747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500000000000000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>
          <p15:clr>
            <a:srgbClr val="F26B43"/>
          </p15:clr>
        </p15:guide>
        <p15:guide id="2" pos="529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216">
          <p15:clr>
            <a:srgbClr val="F26B43"/>
          </p15:clr>
        </p15:guide>
        <p15:guide id="6" pos="7440">
          <p15:clr>
            <a:srgbClr val="F26B43"/>
          </p15:clr>
        </p15:guide>
        <p15:guide id="7" pos="384">
          <p15:clr>
            <a:srgbClr val="F26B43"/>
          </p15:clr>
        </p15:guide>
        <p15:guide id="8" orient="horz" pos="414">
          <p15:clr>
            <a:srgbClr val="F26B43"/>
          </p15:clr>
        </p15:guide>
        <p15:guide id="9" orient="horz" pos="1344">
          <p15:clr>
            <a:srgbClr val="F26B43"/>
          </p15:clr>
        </p15:guide>
        <p15:guide id="10" orient="horz" pos="1457">
          <p15:clr>
            <a:srgbClr val="F26B43"/>
          </p15:clr>
        </p15:guide>
        <p15:guide id="11" orient="horz" pos="3725">
          <p15:clr>
            <a:srgbClr val="F26B43"/>
          </p15:clr>
        </p15:guide>
        <p15:guide id="12" pos="3931">
          <p15:clr>
            <a:srgbClr val="F26B43"/>
          </p15:clr>
        </p15:guide>
        <p15:guide id="13" pos="7310">
          <p15:clr>
            <a:srgbClr val="F26B43"/>
          </p15:clr>
        </p15:guide>
        <p15:guide id="14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23FD6CF-3521-4D35-BD35-CB4211E0B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7952" y="1584977"/>
            <a:ext cx="7268934" cy="1070707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rgbClr val="ECB000"/>
                </a:solidFill>
              </a:rPr>
              <a:t>Seminarski rad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FBB6D6-236C-4929-A6E4-A06E042F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816" y="629819"/>
            <a:ext cx="7272822" cy="1212573"/>
          </a:xfrm>
        </p:spPr>
        <p:txBody>
          <a:bodyPr>
            <a:normAutofit/>
          </a:bodyPr>
          <a:lstStyle/>
          <a:p>
            <a:r>
              <a:rPr lang="hr-H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Uvod u računalno </a:t>
            </a:r>
            <a:r>
              <a:rPr lang="hr-HR" sz="2000" dirty="0"/>
              <a:t>modeliranje</a:t>
            </a:r>
            <a:r>
              <a:rPr lang="hr-H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 programskom jeziku Julia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Placeholder 7" descr="Text&#10;&#10;Description automatically generated with low confidence">
            <a:extLst>
              <a:ext uri="{FF2B5EF4-FFF2-40B4-BE49-F238E27FC236}">
                <a16:creationId xmlns:a16="http://schemas.microsoft.com/office/drawing/2014/main" id="{16374DEA-83B1-4CBC-8123-069E6D88AA0F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846" b="-36846"/>
          <a:stretch/>
        </p:blipFill>
        <p:spPr>
          <a:xfrm>
            <a:off x="176048" y="-1213944"/>
            <a:ext cx="4018383" cy="5972174"/>
          </a:xfrm>
        </p:spPr>
      </p:pic>
      <p:sp>
        <p:nvSpPr>
          <p:cNvPr id="5" name="Subtitle 1">
            <a:extLst>
              <a:ext uri="{FF2B5EF4-FFF2-40B4-BE49-F238E27FC236}">
                <a16:creationId xmlns:a16="http://schemas.microsoft.com/office/drawing/2014/main" id="{B206DA74-2CB3-4FD9-A83B-8772C9226775}"/>
              </a:ext>
            </a:extLst>
          </p:cNvPr>
          <p:cNvSpPr txBox="1">
            <a:spLocks/>
          </p:cNvSpPr>
          <p:nvPr/>
        </p:nvSpPr>
        <p:spPr>
          <a:xfrm>
            <a:off x="5499294" y="3075488"/>
            <a:ext cx="4824577" cy="10707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500000000000000" pitchFamily="34" charset="0"/>
              <a:buNone/>
              <a:defRPr lang="hr-HR" sz="3200" kern="120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Ilustracija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kretanja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harmonijskog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oscilatora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korištenjem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Eulerove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metode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za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numeričku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integraciju</a:t>
            </a:r>
            <a:r>
              <a:rPr lang="en-GB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</a:t>
            </a:r>
            <a:endParaRPr lang="en-US" sz="4000" i="1" dirty="0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B5956B8C-FFC1-4A73-ABAD-502A2651CE68}"/>
              </a:ext>
            </a:extLst>
          </p:cNvPr>
          <p:cNvSpPr txBox="1">
            <a:spLocks/>
          </p:cNvSpPr>
          <p:nvPr/>
        </p:nvSpPr>
        <p:spPr>
          <a:xfrm>
            <a:off x="5577952" y="4670974"/>
            <a:ext cx="7268934" cy="10707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500000000000000" pitchFamily="34" charset="0"/>
              <a:buNone/>
              <a:defRPr lang="hr-HR" sz="3200" kern="120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500000000000000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400" dirty="0"/>
              <a:t>Ime i prezime: Anabel Dautović</a:t>
            </a:r>
          </a:p>
          <a:p>
            <a:r>
              <a:rPr lang="hr-HR" sz="2400" dirty="0"/>
              <a:t>Datum: 20.05.2024.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010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E9C1E3AA-6C3B-415E-8BB3-F8F65CE70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Opis zadatka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Pristup i rješenje problema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Implementacija u </a:t>
            </a:r>
            <a:r>
              <a:rPr lang="hr-HR" sz="2400" dirty="0" err="1"/>
              <a:t>Julii</a:t>
            </a:r>
            <a:endParaRPr lang="hr-H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Rezultati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400" dirty="0"/>
              <a:t>Zaključak</a:t>
            </a:r>
          </a:p>
          <a:p>
            <a:endParaRPr lang="hr-HR" dirty="0"/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E687CC10-C248-472D-9EBC-87F27299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6"/>
            <a:ext cx="9244693" cy="1258810"/>
          </a:xfrm>
        </p:spPr>
        <p:txBody>
          <a:bodyPr>
            <a:normAutofit/>
          </a:bodyPr>
          <a:lstStyle/>
          <a:p>
            <a:r>
              <a:rPr lang="hr-HR" sz="4000" dirty="0"/>
              <a:t>Sadržaj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E132D4B-F561-4555-AE87-5D80CCFCDB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8610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270CCDC-1C8F-46F1-A0A9-E19EFE648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r-HR" sz="18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Modeliranje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harmonijskog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oscilatora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-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ilustracija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kretanja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harmonijskog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oscilatora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korištenjem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Eulerove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metode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za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numeričku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integraciju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</a:t>
            </a:r>
            <a:endParaRPr lang="hr-H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hr-H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-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Grafički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prikaz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položaja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oscilatora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u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vremenu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fazni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prostor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koji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prikazuje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odnos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između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položaja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brzine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9B610F-302F-4F53-B6C7-873F99D4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000" dirty="0"/>
              <a:t>Opis zadatka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BEDCC-1306-4FA8-BEDF-60E1F60A90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550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270CCDC-1C8F-46F1-A0A9-E19EFE648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hr-HR" sz="2400" dirty="0"/>
              <a:t>Kako sam pristupila problemu?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Poče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la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sam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definirajući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funkciju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koja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opisuje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ponašanje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harmoničkog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oscilatora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implementirajući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Eulerovu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metodu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za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numeričko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rješavanje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diferencijalne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jednadžbe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koja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opisuje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sustav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Zatim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sam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postavi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la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parametre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početne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uvjete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za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simulaciju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te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provjeri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la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utjecaj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različitih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koraka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i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vremen</a:t>
            </a:r>
            <a:r>
              <a:rPr lang="hr-HR" sz="2000" b="0" i="0" dirty="0" err="1">
                <a:effectLst/>
                <a:highlight>
                  <a:srgbClr val="FFFFFF"/>
                </a:highlight>
                <a:latin typeface="Söhne"/>
              </a:rPr>
              <a:t>enskog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 okvira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na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rezultate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hr-HR" sz="2400" dirty="0"/>
          </a:p>
          <a:p>
            <a:endParaRPr lang="hr-HR" sz="24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9B610F-302F-4F53-B6C7-873F99D4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000" dirty="0"/>
              <a:t>Pristup i rješenje problema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BEDCC-1306-4FA8-BEDF-60E1F60A90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978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AB651922-EBFE-5B62-2C59-B0BE9D101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045109"/>
            <a:ext cx="7075517" cy="3774831"/>
          </a:xfrm>
        </p:spPr>
        <p:txBody>
          <a:bodyPr>
            <a:normAutofit/>
          </a:bodyPr>
          <a:lstStyle/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Ova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funkcija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predstavlja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diferencijalnu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jednadžbu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drugog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reda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za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harmonijski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oscilator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hr-HR" b="0" i="0" dirty="0" err="1">
                <a:effectLst/>
                <a:highlight>
                  <a:srgbClr val="FFFFFF"/>
                </a:highlight>
                <a:latin typeface="Söhne"/>
              </a:rPr>
              <a:t>tj.jednađbu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gibanja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 </a:t>
            </a:r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Ona se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pretvara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sustav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jednadžbi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prvog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reda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 </a:t>
            </a:r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hr-HR" dirty="0">
              <a:highlight>
                <a:srgbClr val="FFFFFF"/>
              </a:highlight>
              <a:latin typeface="Söhne"/>
            </a:endParaRPr>
          </a:p>
          <a:p>
            <a:pPr algn="l"/>
            <a:endParaRPr lang="hr-HR" dirty="0">
              <a:highlight>
                <a:srgbClr val="FFFFFF"/>
              </a:highlight>
              <a:latin typeface="Söhne"/>
            </a:endParaRPr>
          </a:p>
          <a:p>
            <a:pPr algn="l"/>
            <a:endParaRPr lang="hr-HR" dirty="0"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y[1]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predstavlja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𝑥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pomak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), a y[2]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predstavlja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1" dirty="0"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brzinu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).</a:t>
            </a:r>
          </a:p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16D57A3-0509-7CAD-53CD-E6AE92FDAD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5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0ACAEE4-2243-0728-370B-AB97D4C8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8" y="4021014"/>
            <a:ext cx="1767020" cy="92800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C030A8A4-5E1F-FCD6-74E8-A940A11B1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86089"/>
            <a:ext cx="2419435" cy="928003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67272B04-93A7-D539-53A6-ADB54B951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4164"/>
            <a:ext cx="5365955" cy="116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8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D4B4F2E7-543D-C07E-21F7-E0ABB8A8A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232" y="3793270"/>
            <a:ext cx="8415536" cy="2745642"/>
          </a:xfrm>
        </p:spPr>
        <p:txBody>
          <a:bodyPr>
            <a:normAutofit/>
          </a:bodyPr>
          <a:lstStyle/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Ova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funkcija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numerički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integrira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jednadžbe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koristeći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Eulerovu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metodu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 </a:t>
            </a:r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hr-HR" dirty="0">
              <a:highlight>
                <a:srgbClr val="FFFFFF"/>
              </a:highlight>
              <a:latin typeface="Söhne"/>
            </a:endParaRPr>
          </a:p>
          <a:p>
            <a:pPr algn="l"/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𝑦0​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polje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početnih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uvjeta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[</a:t>
            </a:r>
            <a:r>
              <a:rPr lang="en-GB" b="0" i="1" dirty="0">
                <a:effectLst/>
                <a:highlight>
                  <a:srgbClr val="FFFFFF"/>
                </a:highlight>
                <a:latin typeface="KaTeX_Math"/>
              </a:rPr>
              <a:t>x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0​,</a:t>
            </a:r>
            <a:r>
              <a:rPr lang="en-GB" b="0" i="1" dirty="0"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0​]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tspan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vremenski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raspon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h 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veličina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koraka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F974F76-EE7E-F519-2CA1-92F5789461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6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1B5E3B10-68F6-0B02-62D4-A7679EAE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2" y="356684"/>
            <a:ext cx="7973966" cy="3254023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E89A45C2-1A22-AD9F-678B-0B8C69EB2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070" y="4302338"/>
            <a:ext cx="4201838" cy="62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3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62653617-104A-4501-EB0F-847C6E61D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677" y="855402"/>
            <a:ext cx="11536684" cy="587969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Očuvanje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energije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harmoničkom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oscilatoru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harmoničkom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oscilatoru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ukupna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mehanička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𝐸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treba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ostati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konstantna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tijekom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Ukupna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je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zbroj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kinetičke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𝑇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potencijalne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𝑉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Za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sustav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harmonijskog osciliranja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definirane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kao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hr-HR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Eulerova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metoda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Eulerova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metoda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ažurira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položaj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𝑥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brzinu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𝑣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svakom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koraku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𝑡𝑛​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koristeći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sljedeće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formule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Analiza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promjene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energije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E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nergija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svakom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koraku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𝑛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dirty="0">
                <a:highlight>
                  <a:srgbClr val="FFFFFF"/>
                </a:highlight>
                <a:latin typeface="Söhne"/>
              </a:rPr>
              <a:t> 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.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               -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kinetička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potencijalna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vremenu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endParaRPr lang="en-GB" b="1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Koristeći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: 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                                                           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možemo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aproksimirati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k</a:t>
            </a:r>
            <a:r>
              <a:rPr lang="hr-HR" dirty="0" err="1">
                <a:highlight>
                  <a:srgbClr val="FFFFFF"/>
                </a:highlight>
                <a:latin typeface="Söhne"/>
              </a:rPr>
              <a:t>inetičku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𝑡𝑛+1​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kao</a:t>
            </a:r>
            <a:r>
              <a:rPr lang="hr-HR" dirty="0">
                <a:highlight>
                  <a:srgbClr val="FFFFFF"/>
                </a:highlight>
                <a:latin typeface="Söhne"/>
              </a:rPr>
              <a:t>:</a:t>
            </a:r>
            <a:endParaRPr lang="en-GB" b="1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Koristeći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: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​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b="0" i="0" dirty="0">
                <a:effectLst/>
                <a:highlight>
                  <a:srgbClr val="FFFFFF"/>
                </a:highlight>
                <a:latin typeface="Söhne"/>
              </a:rPr>
              <a:t>                                                 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možemo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aproksimirati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potencijalnu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𝑡𝑛+1​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kao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</a:t>
            </a:r>
            <a:endParaRPr lang="hr-HR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Promjena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ukupne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i="0" dirty="0" err="1">
                <a:effectLst/>
                <a:highlight>
                  <a:srgbClr val="FFFFFF"/>
                </a:highlight>
                <a:latin typeface="Söhne"/>
              </a:rPr>
              <a:t>energije</a:t>
            </a:r>
            <a:r>
              <a:rPr lang="hr-HR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l-GR" b="0" i="0" dirty="0">
                <a:effectLst/>
                <a:highlight>
                  <a:srgbClr val="FFFFFF"/>
                </a:highlight>
                <a:latin typeface="KaTeX_Main"/>
              </a:rPr>
              <a:t>Δ𝐸 </a:t>
            </a:r>
            <a:r>
              <a:rPr lang="en-GB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highlight>
                  <a:srgbClr val="FFFFFF"/>
                </a:highlight>
                <a:latin typeface="KaTeX_Main"/>
              </a:rPr>
              <a:t>Δ𝐸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tijekom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jednog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koraka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(</a:t>
            </a:r>
            <a:r>
              <a:rPr lang="en-GB" b="0" i="0" dirty="0">
                <a:effectLst/>
                <a:highlight>
                  <a:srgbClr val="FFFFFF"/>
                </a:highlight>
                <a:latin typeface="KaTeX_Main"/>
              </a:rPr>
              <a:t>ℎ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) dana je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kao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hr-HR" b="1" i="0" dirty="0"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hr-HR" b="1" dirty="0"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hr-HR" b="0" i="0" dirty="0">
                <a:effectLst/>
                <a:highlight>
                  <a:srgbClr val="FFFFFF"/>
                </a:highlight>
                <a:latin typeface="KaTeX_Main"/>
              </a:rPr>
              <a:t>                                </a:t>
            </a:r>
            <a:r>
              <a:rPr lang="el-GR" b="0" i="0" dirty="0">
                <a:effectLst/>
                <a:highlight>
                  <a:srgbClr val="FFFFFF"/>
                </a:highlight>
                <a:latin typeface="KaTeX_Main"/>
              </a:rPr>
              <a:t>Δ𝐸</a:t>
            </a:r>
            <a:r>
              <a:rPr lang="hr-HR" dirty="0"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izračunata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pomoću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Eulerove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metode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ne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ostaje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nula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tijekom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što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ukazuje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to da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energija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nije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očuvana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hr-HR" dirty="0">
                <a:highlight>
                  <a:srgbClr val="FFFFFF"/>
                </a:highlight>
                <a:latin typeface="Söhne"/>
              </a:rPr>
              <a:t>                                To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rezultira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povećanjem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amplitude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tijekom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vremena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što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se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opaža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u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simulacijama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pomoću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Eulerove</a:t>
            </a:r>
            <a:r>
              <a:rPr lang="en-GB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b="0" i="0" dirty="0" err="1">
                <a:effectLst/>
                <a:highlight>
                  <a:srgbClr val="FFFFFF"/>
                </a:highlight>
                <a:latin typeface="Söhne"/>
              </a:rPr>
              <a:t>metode</a:t>
            </a:r>
            <a:endParaRPr lang="en-GB" b="0" i="0" dirty="0">
              <a:effectLst/>
              <a:highlight>
                <a:srgbClr val="FFFFFF"/>
              </a:highlight>
              <a:latin typeface="Söhne"/>
            </a:endParaRPr>
          </a:p>
          <a:p>
            <a:endParaRPr lang="en-GB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62772A2A-55B1-F11D-2BAE-C2FA47084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7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7A8E257-D60D-848E-BAC7-B11B3411D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28" y="1705428"/>
            <a:ext cx="783738" cy="449798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8610D363-20F0-E228-105A-83BF22E60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815" y="2366632"/>
            <a:ext cx="2274678" cy="612062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483F93D3-48FD-C5FF-E1B5-68F288915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77" y="4123930"/>
            <a:ext cx="2324734" cy="374095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CE49AF10-9A63-A96C-D8BA-3FDC9D9AE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8921" y="4106629"/>
            <a:ext cx="1613403" cy="410187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24BD594F-F24B-F660-0CE3-092AB7461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523" y="4419365"/>
            <a:ext cx="1914792" cy="352474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E34DF9A7-7B98-1173-556D-836259035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1083" y="4406606"/>
            <a:ext cx="1433464" cy="447957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BB4861B3-FB0A-A1B6-59B8-E8B1D5EEC3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1828" y="5235096"/>
            <a:ext cx="4725059" cy="371527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563A340-4A2F-D8CF-7076-D93929DE1A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8012" y="5534681"/>
            <a:ext cx="3972479" cy="400106"/>
          </a:xfrm>
          <a:prstGeom prst="rect">
            <a:avLst/>
          </a:prstGeom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id="{0E7429A1-5B82-A121-04C7-E122514C82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465" y="3313347"/>
            <a:ext cx="1111759" cy="277940"/>
          </a:xfrm>
          <a:prstGeom prst="rect">
            <a:avLst/>
          </a:prstGeom>
        </p:spPr>
      </p:pic>
      <p:pic>
        <p:nvPicPr>
          <p:cNvPr id="26" name="Slika 25">
            <a:extLst>
              <a:ext uri="{FF2B5EF4-FFF2-40B4-BE49-F238E27FC236}">
                <a16:creationId xmlns:a16="http://schemas.microsoft.com/office/drawing/2014/main" id="{F50D7C40-7DC8-1327-47B1-135F0B23F3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840" y="3630619"/>
            <a:ext cx="582900" cy="259067"/>
          </a:xfrm>
          <a:prstGeom prst="rect">
            <a:avLst/>
          </a:prstGeom>
        </p:spPr>
      </p:pic>
      <p:pic>
        <p:nvPicPr>
          <p:cNvPr id="30" name="Slika 29">
            <a:extLst>
              <a:ext uri="{FF2B5EF4-FFF2-40B4-BE49-F238E27FC236}">
                <a16:creationId xmlns:a16="http://schemas.microsoft.com/office/drawing/2014/main" id="{21BDF30F-9285-BD82-BB83-50470BEC41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1896" y="3619450"/>
            <a:ext cx="171474" cy="238158"/>
          </a:xfrm>
          <a:prstGeom prst="rect">
            <a:avLst/>
          </a:prstGeom>
        </p:spPr>
      </p:pic>
      <p:pic>
        <p:nvPicPr>
          <p:cNvPr id="32" name="Slika 31">
            <a:extLst>
              <a:ext uri="{FF2B5EF4-FFF2-40B4-BE49-F238E27FC236}">
                <a16:creationId xmlns:a16="http://schemas.microsoft.com/office/drawing/2014/main" id="{46AB3126-6507-EE27-A3CB-D2F6A928CB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2803" y="1392944"/>
            <a:ext cx="881448" cy="244436"/>
          </a:xfrm>
          <a:prstGeom prst="rect">
            <a:avLst/>
          </a:prstGeom>
        </p:spPr>
      </p:pic>
      <p:pic>
        <p:nvPicPr>
          <p:cNvPr id="34" name="Slika 33">
            <a:extLst>
              <a:ext uri="{FF2B5EF4-FFF2-40B4-BE49-F238E27FC236}">
                <a16:creationId xmlns:a16="http://schemas.microsoft.com/office/drawing/2014/main" id="{259AC66D-CCA6-4CB5-CAEC-426FBDE016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64" y="5974119"/>
            <a:ext cx="1638529" cy="790685"/>
          </a:xfrm>
          <a:prstGeom prst="rect">
            <a:avLst/>
          </a:prstGeom>
        </p:spPr>
      </p:pic>
      <p:sp>
        <p:nvSpPr>
          <p:cNvPr id="37" name="TekstniOkvir 36">
            <a:extLst>
              <a:ext uri="{FF2B5EF4-FFF2-40B4-BE49-F238E27FC236}">
                <a16:creationId xmlns:a16="http://schemas.microsoft.com/office/drawing/2014/main" id="{FBC8D619-E998-79C1-3853-6C80CD41F1F3}"/>
              </a:ext>
            </a:extLst>
          </p:cNvPr>
          <p:cNvSpPr txBox="1"/>
          <p:nvPr/>
        </p:nvSpPr>
        <p:spPr>
          <a:xfrm>
            <a:off x="399677" y="338353"/>
            <a:ext cx="286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Koja su ograničenja modela?</a:t>
            </a:r>
          </a:p>
        </p:txBody>
      </p:sp>
    </p:spTree>
    <p:extLst>
      <p:ext uri="{BB962C8B-B14F-4D97-AF65-F5344CB8AC3E}">
        <p14:creationId xmlns:p14="http://schemas.microsoft.com/office/powerpoint/2010/main" val="365303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DA81FBE0-34BE-9DBB-8BE9-C0FFFC6F9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086" y="1054696"/>
            <a:ext cx="9646920" cy="4975293"/>
          </a:xfrm>
        </p:spPr>
        <p:txBody>
          <a:bodyPr>
            <a:normAutofit/>
          </a:bodyPr>
          <a:lstStyle/>
          <a:p>
            <a:r>
              <a:rPr lang="en-GB" dirty="0" err="1"/>
              <a:t>Eulerova</a:t>
            </a:r>
            <a:r>
              <a:rPr lang="en-GB" dirty="0"/>
              <a:t> </a:t>
            </a:r>
            <a:r>
              <a:rPr lang="en-GB" dirty="0" err="1"/>
              <a:t>metoda</a:t>
            </a:r>
            <a:r>
              <a:rPr lang="en-GB" dirty="0"/>
              <a:t> ne </a:t>
            </a:r>
            <a:r>
              <a:rPr lang="en-GB" dirty="0" err="1"/>
              <a:t>očuva</a:t>
            </a:r>
            <a:r>
              <a:rPr lang="en-GB" dirty="0"/>
              <a:t> </a:t>
            </a:r>
            <a:r>
              <a:rPr lang="en-GB" dirty="0" err="1"/>
              <a:t>energiju</a:t>
            </a:r>
            <a:r>
              <a:rPr lang="en-GB" dirty="0"/>
              <a:t> dobro </a:t>
            </a:r>
            <a:r>
              <a:rPr lang="hr-HR" dirty="0"/>
              <a:t>                                                                                     </a:t>
            </a:r>
            <a:r>
              <a:rPr lang="en-GB" dirty="0" err="1"/>
              <a:t>kod</a:t>
            </a:r>
            <a:r>
              <a:rPr lang="en-GB" dirty="0"/>
              <a:t> </a:t>
            </a:r>
            <a:r>
              <a:rPr lang="en-GB" dirty="0" err="1"/>
              <a:t>harmonijskih</a:t>
            </a:r>
            <a:r>
              <a:rPr lang="en-GB" dirty="0"/>
              <a:t> </a:t>
            </a:r>
            <a:r>
              <a:rPr lang="en-GB" dirty="0" err="1"/>
              <a:t>oscilatora</a:t>
            </a:r>
            <a:r>
              <a:rPr lang="en-GB" dirty="0"/>
              <a:t>. To se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hr-HR" dirty="0"/>
              <a:t>                                                                                        </a:t>
            </a:r>
            <a:r>
              <a:rPr lang="en-GB" dirty="0" err="1"/>
              <a:t>primijetiti</a:t>
            </a:r>
            <a:r>
              <a:rPr lang="en-GB" dirty="0"/>
              <a:t> </a:t>
            </a:r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simulaciju</a:t>
            </a:r>
            <a:r>
              <a:rPr lang="en-GB" dirty="0"/>
              <a:t> </a:t>
            </a:r>
            <a:r>
              <a:rPr lang="en-GB" dirty="0" err="1"/>
              <a:t>pokrene</a:t>
            </a:r>
            <a:r>
              <a:rPr lang="hr-HR" dirty="0" err="1"/>
              <a:t>mo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hr-HR" dirty="0"/>
              <a:t>                                                                                          </a:t>
            </a:r>
            <a:r>
              <a:rPr lang="en-GB" dirty="0" err="1"/>
              <a:t>dulje</a:t>
            </a:r>
            <a:r>
              <a:rPr lang="en-GB" dirty="0"/>
              <a:t> </a:t>
            </a:r>
            <a:r>
              <a:rPr lang="en-GB" dirty="0" err="1"/>
              <a:t>vrijeme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s </a:t>
            </a:r>
            <a:r>
              <a:rPr lang="en-GB" dirty="0" err="1"/>
              <a:t>većom</a:t>
            </a:r>
            <a:r>
              <a:rPr lang="en-GB" dirty="0"/>
              <a:t> </a:t>
            </a:r>
            <a:r>
              <a:rPr lang="en-GB" dirty="0" err="1"/>
              <a:t>veličinom</a:t>
            </a:r>
            <a:r>
              <a:rPr lang="en-GB" dirty="0"/>
              <a:t> </a:t>
            </a:r>
            <a:r>
              <a:rPr lang="en-GB" dirty="0" err="1"/>
              <a:t>koraka</a:t>
            </a:r>
            <a:r>
              <a:rPr lang="en-GB" dirty="0"/>
              <a:t>.</a:t>
            </a:r>
            <a:r>
              <a:rPr lang="hr-HR" dirty="0"/>
              <a:t> </a:t>
            </a:r>
          </a:p>
          <a:p>
            <a:endParaRPr lang="hr-HR" dirty="0"/>
          </a:p>
          <a:p>
            <a:pPr marL="342900" indent="-342900">
              <a:buFontTx/>
              <a:buChar char="-"/>
            </a:pPr>
            <a:r>
              <a:rPr lang="hr-HR" dirty="0"/>
              <a:t>odnos položaja i vremena   </a:t>
            </a:r>
          </a:p>
          <a:p>
            <a:pPr marL="342900" indent="-342900">
              <a:buFontTx/>
              <a:buChar char="-"/>
            </a:pPr>
            <a:endParaRPr lang="hr-HR" dirty="0"/>
          </a:p>
          <a:p>
            <a:pPr marL="342900" indent="-342900">
              <a:buFontTx/>
              <a:buChar char="-"/>
            </a:pPr>
            <a:r>
              <a:rPr lang="en-GB" dirty="0" err="1"/>
              <a:t>povećanje</a:t>
            </a:r>
            <a:r>
              <a:rPr lang="en-GB" dirty="0"/>
              <a:t> amplitude </a:t>
            </a:r>
            <a:r>
              <a:rPr lang="en-GB" dirty="0" err="1"/>
              <a:t>tijekom</a:t>
            </a:r>
            <a:r>
              <a:rPr lang="en-GB" dirty="0"/>
              <a:t> </a:t>
            </a:r>
            <a:r>
              <a:rPr lang="hr-HR" dirty="0"/>
              <a:t>      -------------</a:t>
            </a:r>
            <a:r>
              <a:rPr lang="hr-HR" dirty="0">
                <a:sym typeface="Wingdings" panose="05000000000000000000" pitchFamily="2" charset="2"/>
              </a:rPr>
              <a:t></a:t>
            </a:r>
            <a:r>
              <a:rPr lang="hr-HR" dirty="0"/>
              <a:t>                                                                                          </a:t>
            </a:r>
            <a:r>
              <a:rPr lang="en-GB" dirty="0" err="1"/>
              <a:t>vremena</a:t>
            </a:r>
            <a:r>
              <a:rPr lang="en-GB" dirty="0"/>
              <a:t> za </a:t>
            </a:r>
            <a:r>
              <a:rPr lang="en-GB" dirty="0" err="1"/>
              <a:t>već</a:t>
            </a:r>
            <a:r>
              <a:rPr lang="hr-HR" dirty="0"/>
              <a:t>i h = 0.1</a:t>
            </a:r>
          </a:p>
          <a:p>
            <a:endParaRPr lang="hr-HR" dirty="0"/>
          </a:p>
          <a:p>
            <a:endParaRPr lang="hr-HR" dirty="0"/>
          </a:p>
          <a:p>
            <a:pPr marL="342900" indent="-342900">
              <a:buFontTx/>
              <a:buChar char="-"/>
            </a:pPr>
            <a:r>
              <a:rPr lang="en-GB" dirty="0" err="1"/>
              <a:t>povećanje</a:t>
            </a:r>
            <a:r>
              <a:rPr lang="en-GB" dirty="0"/>
              <a:t> amplitude</a:t>
            </a:r>
            <a:r>
              <a:rPr lang="hr-HR" dirty="0"/>
              <a:t>                                                                                                                        </a:t>
            </a:r>
            <a:r>
              <a:rPr lang="en-GB" dirty="0"/>
              <a:t> </a:t>
            </a:r>
            <a:r>
              <a:rPr lang="en-GB" dirty="0" err="1"/>
              <a:t>tijekom</a:t>
            </a:r>
            <a:r>
              <a:rPr lang="en-GB" dirty="0"/>
              <a:t> </a:t>
            </a:r>
            <a:r>
              <a:rPr lang="en-GB" dirty="0" err="1"/>
              <a:t>vremena</a:t>
            </a:r>
            <a:r>
              <a:rPr lang="en-GB" dirty="0"/>
              <a:t> za </a:t>
            </a:r>
            <a:r>
              <a:rPr lang="en-GB" dirty="0" err="1"/>
              <a:t>već</a:t>
            </a:r>
            <a:r>
              <a:rPr lang="hr-HR" dirty="0"/>
              <a:t>i                                                                                                                   </a:t>
            </a:r>
            <a:r>
              <a:rPr lang="el-GR" dirty="0"/>
              <a:t>Δ</a:t>
            </a:r>
            <a:r>
              <a:rPr lang="en-GB" dirty="0"/>
              <a:t>t</a:t>
            </a:r>
            <a:r>
              <a:rPr lang="hr-HR" dirty="0"/>
              <a:t> = 120                                           ---------------</a:t>
            </a:r>
            <a:r>
              <a:rPr lang="hr-HR" dirty="0">
                <a:sym typeface="Wingdings" panose="05000000000000000000" pitchFamily="2" charset="2"/>
              </a:rPr>
              <a:t>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83004F65-6D07-DC1F-2113-B334A9AC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86" y="356084"/>
            <a:ext cx="9244693" cy="698612"/>
          </a:xfrm>
        </p:spPr>
        <p:txBody>
          <a:bodyPr>
            <a:normAutofit/>
          </a:bodyPr>
          <a:lstStyle/>
          <a:p>
            <a:r>
              <a:rPr lang="hr-HR" sz="3200" dirty="0"/>
              <a:t>Rezultati</a:t>
            </a:r>
            <a:endParaRPr lang="en-GB" sz="3200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E56BC842-BC6A-7B8E-B910-2FC4CC4A2D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8</a:t>
            </a:fld>
            <a:endParaRPr lang="hr-HR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4899D2F7-05B8-5B59-2EEF-8AD5099C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6" y="2247370"/>
            <a:ext cx="4036858" cy="238715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932DF8C8-4332-78FD-80FF-E9E2DBC6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818" y="4536805"/>
            <a:ext cx="3911051" cy="2304905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137CC60C-2A9B-06A3-0F5F-ECEDB5967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44"/>
          <a:stretch/>
        </p:blipFill>
        <p:spPr>
          <a:xfrm>
            <a:off x="5213827" y="107583"/>
            <a:ext cx="3708907" cy="2117656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065DFB26-96AF-1086-D701-E955F6C853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694"/>
          <a:stretch/>
        </p:blipFill>
        <p:spPr>
          <a:xfrm>
            <a:off x="8319938" y="795968"/>
            <a:ext cx="3470410" cy="11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6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slov 1">
            <a:extLst>
              <a:ext uri="{FF2B5EF4-FFF2-40B4-BE49-F238E27FC236}">
                <a16:creationId xmlns:a16="http://schemas.microsoft.com/office/drawing/2014/main" id="{DE8853BF-47A5-7417-166B-B9EF0E8CB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798" y="1507966"/>
            <a:ext cx="4078346" cy="2259718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GB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odnos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između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položaja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</a:t>
            </a:r>
            <a:r>
              <a:rPr lang="en-GB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GB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brzine</a:t>
            </a:r>
            <a:endParaRPr lang="hr-HR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hr-HR" dirty="0">
                <a:latin typeface="Aptos" panose="020B0004020202020204" pitchFamily="34" charset="0"/>
              </a:rPr>
              <a:t>u sustavu bez numeričke greške, graf ima zatvorenu kružnu krivulju, sa greškom otvorenu</a:t>
            </a:r>
            <a:endParaRPr lang="en-GB" dirty="0"/>
          </a:p>
        </p:txBody>
      </p:sp>
      <p:sp>
        <p:nvSpPr>
          <p:cNvPr id="3" name="Naslov 2">
            <a:extLst>
              <a:ext uri="{FF2B5EF4-FFF2-40B4-BE49-F238E27FC236}">
                <a16:creationId xmlns:a16="http://schemas.microsoft.com/office/drawing/2014/main" id="{6056EAD6-578C-5B98-EF86-A51257D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200" dirty="0"/>
              <a:t>Rezultati</a:t>
            </a:r>
            <a:endParaRPr lang="en-GB" sz="3200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C6E64A15-60DA-BDD6-5BFB-93B4967194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9</a:t>
            </a:fld>
            <a:endParaRPr lang="hr-HR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2C6363C-D1EB-1573-A245-532D81D8B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70"/>
          <a:stretch/>
        </p:blipFill>
        <p:spPr>
          <a:xfrm>
            <a:off x="392481" y="2922974"/>
            <a:ext cx="5068065" cy="3200662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BD558AB8-16F0-CFD5-F2D3-3CD28846A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161" y="136526"/>
            <a:ext cx="5418103" cy="3330918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49D306DF-E45C-F62F-5561-9CD3C190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515" y="3467443"/>
            <a:ext cx="5068065" cy="3390557"/>
          </a:xfrm>
          <a:prstGeom prst="rect">
            <a:avLst/>
          </a:prstGeom>
        </p:spPr>
      </p:pic>
      <p:sp>
        <p:nvSpPr>
          <p:cNvPr id="12" name="TekstniOkvir 11">
            <a:extLst>
              <a:ext uri="{FF2B5EF4-FFF2-40B4-BE49-F238E27FC236}">
                <a16:creationId xmlns:a16="http://schemas.microsoft.com/office/drawing/2014/main" id="{873D6468-93C2-4098-D41C-C03F1F8252D9}"/>
              </a:ext>
            </a:extLst>
          </p:cNvPr>
          <p:cNvSpPr txBox="1"/>
          <p:nvPr/>
        </p:nvSpPr>
        <p:spPr>
          <a:xfrm>
            <a:off x="10311580" y="2012494"/>
            <a:ext cx="17206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&lt;---------                                                                                             </a:t>
            </a:r>
            <a:r>
              <a:rPr lang="en-GB" dirty="0" err="1">
                <a:solidFill>
                  <a:schemeClr val="bg1"/>
                </a:solidFill>
              </a:rPr>
              <a:t>već</a:t>
            </a:r>
            <a:r>
              <a:rPr lang="hr-HR" dirty="0">
                <a:solidFill>
                  <a:schemeClr val="bg1"/>
                </a:solidFill>
              </a:rPr>
              <a:t>i h = 0.1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v</a:t>
            </a:r>
            <a:r>
              <a:rPr lang="en-GB" dirty="0" err="1">
                <a:solidFill>
                  <a:schemeClr val="bg1"/>
                </a:solidFill>
              </a:rPr>
              <a:t>eć</a:t>
            </a:r>
            <a:r>
              <a:rPr lang="hr-HR" dirty="0">
                <a:solidFill>
                  <a:schemeClr val="bg1"/>
                </a:solidFill>
              </a:rPr>
              <a:t>i </a:t>
            </a:r>
            <a:r>
              <a:rPr lang="el-GR" dirty="0">
                <a:solidFill>
                  <a:schemeClr val="bg1"/>
                </a:solidFill>
              </a:rPr>
              <a:t>Δ</a:t>
            </a:r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hr-HR" dirty="0">
                <a:solidFill>
                  <a:schemeClr val="bg1"/>
                </a:solidFill>
              </a:rPr>
              <a:t> = 120                                                                                                             &lt;---------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937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270CCDC-1C8F-46F1-A0A9-E19EFE648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33600"/>
            <a:ext cx="7075517" cy="3411794"/>
          </a:xfrm>
        </p:spPr>
        <p:txBody>
          <a:bodyPr>
            <a:normAutofit/>
          </a:bodyPr>
          <a:lstStyle/>
          <a:p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Eulerova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metoda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je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prikladna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za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neke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putanje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ali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ako je potrebna visoka razina točnosti, 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n</a:t>
            </a:r>
            <a:r>
              <a:rPr lang="hr-HR" sz="2000" b="0" i="0" dirty="0" err="1">
                <a:effectLst/>
                <a:highlight>
                  <a:srgbClr val="FFFFFF"/>
                </a:highlight>
                <a:latin typeface="Söhne"/>
              </a:rPr>
              <a:t>ije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 idealna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za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harmonijsko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gibanje</a:t>
            </a:r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, pogotovo pri mjerenju dulje vrijeme ili s manjim korakom h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hr-HR" sz="2000" b="0" i="0" dirty="0">
              <a:effectLst/>
              <a:highlight>
                <a:srgbClr val="FFFFFF"/>
              </a:highlight>
              <a:latin typeface="Söhne"/>
            </a:endParaRPr>
          </a:p>
          <a:p>
            <a:endParaRPr lang="hr-HR" sz="2000" b="0" i="0" dirty="0">
              <a:effectLst/>
              <a:highlight>
                <a:srgbClr val="FFFFFF"/>
              </a:highlight>
              <a:latin typeface="Söhne"/>
            </a:endParaRPr>
          </a:p>
          <a:p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Ako je dovoljna niža razina točnosti, Eulerova metoda može dati uvid u kretanje harmonijsko oscilatora.</a:t>
            </a:r>
          </a:p>
          <a:p>
            <a:endParaRPr lang="hr-HR" dirty="0">
              <a:highlight>
                <a:srgbClr val="FFFFFF"/>
              </a:highlight>
              <a:latin typeface="Söhne"/>
            </a:endParaRPr>
          </a:p>
          <a:p>
            <a:r>
              <a:rPr lang="hr-HR" sz="2000" b="0" i="0" dirty="0">
                <a:effectLst/>
                <a:highlight>
                  <a:srgbClr val="FFFFFF"/>
                </a:highlight>
                <a:latin typeface="Söhne"/>
              </a:rPr>
              <a:t>Metoda potencijalno bolja za modeliranje harmonijskog gibanja - 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Söhne"/>
              </a:rPr>
              <a:t>Runge-</a:t>
            </a:r>
            <a:r>
              <a:rPr lang="en-GB" sz="2000" b="0" i="0" dirty="0" err="1">
                <a:effectLst/>
                <a:highlight>
                  <a:srgbClr val="FFFFFF"/>
                </a:highlight>
                <a:latin typeface="Söhne"/>
              </a:rPr>
              <a:t>Kutta</a:t>
            </a:r>
            <a:endParaRPr lang="hr-HR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9B610F-302F-4F53-B6C7-873F99D4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200" dirty="0"/>
              <a:t>Zaključak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BEDCC-1306-4FA8-BEDF-60E1F60A90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D362A1-5339-458A-BCD2-7DD26D14AD42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2743254"/>
      </p:ext>
    </p:extLst>
  </p:cSld>
  <p:clrMapOvr>
    <a:masterClrMapping/>
  </p:clrMapOvr>
</p:sld>
</file>

<file path=ppt/theme/theme1.xml><?xml version="1.0" encoding="utf-8"?>
<a:theme xmlns:a="http://schemas.openxmlformats.org/drawingml/2006/main" name="FER Dark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ER_Light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FER_Light">
  <a:themeElements>
    <a:clrScheme name="FER1">
      <a:dk1>
        <a:srgbClr val="02000D"/>
      </a:dk1>
      <a:lt1>
        <a:srgbClr val="FFFFFF"/>
      </a:lt1>
      <a:dk2>
        <a:srgbClr val="00003F"/>
      </a:dk2>
      <a:lt2>
        <a:srgbClr val="ECB000"/>
      </a:lt2>
      <a:accent1>
        <a:srgbClr val="5B9BD5"/>
      </a:accent1>
      <a:accent2>
        <a:srgbClr val="E5681B"/>
      </a:accent2>
      <a:accent3>
        <a:srgbClr val="92D050"/>
      </a:accent3>
      <a:accent4>
        <a:srgbClr val="FFC000"/>
      </a:accent4>
      <a:accent5>
        <a:srgbClr val="2F5496"/>
      </a:accent5>
      <a:accent6>
        <a:srgbClr val="538135"/>
      </a:accent6>
      <a:hlink>
        <a:srgbClr val="4472C4"/>
      </a:hlink>
      <a:folHlink>
        <a:srgbClr val="954F72"/>
      </a:folHlink>
    </a:clrScheme>
    <a:fontScheme name="Roobert">
      <a:majorFont>
        <a:latin typeface="Roobert bold"/>
        <a:ea typeface=""/>
        <a:cs typeface=""/>
      </a:majorFont>
      <a:minorFont>
        <a:latin typeface="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4A78737296D44B9C0FDA063D431BDD" ma:contentTypeVersion="12" ma:contentTypeDescription="Stvaranje novog dokumenta." ma:contentTypeScope="" ma:versionID="5505016d88c2a2c2e94c43cb1a42ccef">
  <xsd:schema xmlns:xsd="http://www.w3.org/2001/XMLSchema" xmlns:xs="http://www.w3.org/2001/XMLSchema" xmlns:p="http://schemas.microsoft.com/office/2006/metadata/properties" xmlns:ns2="6a5cec3c-b857-4d55-a661-1a8fdc8fcb3c" xmlns:ns3="37ec1f5e-67c4-41fc-8f61-d37ccb2c36a1" targetNamespace="http://schemas.microsoft.com/office/2006/metadata/properties" ma:root="true" ma:fieldsID="d67f394a37e9e525bab642c8b2e81708" ns2:_="" ns3:_="">
    <xsd:import namespace="6a5cec3c-b857-4d55-a661-1a8fdc8fcb3c"/>
    <xsd:import namespace="37ec1f5e-67c4-41fc-8f61-d37ccb2c36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5cec3c-b857-4d55-a661-1a8fdc8fcb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ec1f5e-67c4-41fc-8f61-d37ccb2c36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Zajednički se koristi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ji o zajedničkom korištenju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FBDF57-F604-4647-A6CF-70CDC37C9C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389E1F-108A-4E97-A066-6DC7E134E74F}">
  <ds:schemaRefs>
    <ds:schemaRef ds:uri="37ec1f5e-67c4-41fc-8f61-d37ccb2c36a1"/>
    <ds:schemaRef ds:uri="6a5cec3c-b857-4d55-a661-1a8fdc8fcb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1F5157-3899-4EC7-8C94-B90B2C6E4F3C}">
  <ds:schemaRefs>
    <ds:schemaRef ds:uri="37ec1f5e-67c4-41fc-8f61-d37ccb2c36a1"/>
    <ds:schemaRef ds:uri="6a5cec3c-b857-4d55-a661-1a8fdc8fcb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552</Words>
  <Application>Microsoft Office PowerPoint</Application>
  <PresentationFormat>Široki zaslon</PresentationFormat>
  <Paragraphs>95</Paragraphs>
  <Slides>10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8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10</vt:i4>
      </vt:variant>
    </vt:vector>
  </HeadingPairs>
  <TitlesOfParts>
    <vt:vector size="21" baseType="lpstr">
      <vt:lpstr>Aptos</vt:lpstr>
      <vt:lpstr>Arial</vt:lpstr>
      <vt:lpstr>Calibri</vt:lpstr>
      <vt:lpstr>KaTeX_Main</vt:lpstr>
      <vt:lpstr>KaTeX_Math</vt:lpstr>
      <vt:lpstr>Roobert</vt:lpstr>
      <vt:lpstr>Söhne</vt:lpstr>
      <vt:lpstr>Wingdings</vt:lpstr>
      <vt:lpstr>FER Dark</vt:lpstr>
      <vt:lpstr>FER_Light</vt:lpstr>
      <vt:lpstr>1_FER_Light</vt:lpstr>
      <vt:lpstr>Uvod u računalno modeliranje u programskom jeziku Julia</vt:lpstr>
      <vt:lpstr>Sadržaj</vt:lpstr>
      <vt:lpstr>Opis zadatka</vt:lpstr>
      <vt:lpstr>Pristup i rješenje problema</vt:lpstr>
      <vt:lpstr>PowerPoint prezentacija</vt:lpstr>
      <vt:lpstr>PowerPoint prezentacija</vt:lpstr>
      <vt:lpstr>PowerPoint prezentacija</vt:lpstr>
      <vt:lpstr>Rezultati</vt:lpstr>
      <vt:lpstr>Rezultati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</dc:creator>
  <cp:lastModifiedBy>Anabel Dautović</cp:lastModifiedBy>
  <cp:revision>15</cp:revision>
  <cp:lastPrinted>2021-01-13T09:31:57Z</cp:lastPrinted>
  <dcterms:created xsi:type="dcterms:W3CDTF">2020-04-30T08:26:07Z</dcterms:created>
  <dcterms:modified xsi:type="dcterms:W3CDTF">2024-06-04T10:46:20Z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0x0101005F4A78737296D44B9C0FDA063D431BDD</vt:lpwstr>
  </property>
</Properties>
</file>