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1"/>
  </p:notesMasterIdLst>
  <p:sldIdLst>
    <p:sldId id="256" r:id="rId2"/>
    <p:sldId id="275" r:id="rId3"/>
    <p:sldId id="276" r:id="rId4"/>
    <p:sldId id="257" r:id="rId5"/>
    <p:sldId id="272" r:id="rId6"/>
    <p:sldId id="258" r:id="rId7"/>
    <p:sldId id="266" r:id="rId8"/>
    <p:sldId id="268" r:id="rId9"/>
    <p:sldId id="259" r:id="rId10"/>
    <p:sldId id="269" r:id="rId11"/>
    <p:sldId id="270" r:id="rId12"/>
    <p:sldId id="261" r:id="rId13"/>
    <p:sldId id="264" r:id="rId14"/>
    <p:sldId id="262" r:id="rId15"/>
    <p:sldId id="263" r:id="rId16"/>
    <p:sldId id="277" r:id="rId17"/>
    <p:sldId id="271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734BE-668B-4BAF-B25D-BA2E11220D14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0B309-97AB-4CEA-BAE6-173E32DFD3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02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0B309-97AB-4CEA-BAE6-173E32DFD3C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049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0B309-97AB-4CEA-BAE6-173E32DFD3C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28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40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25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sekci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07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5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66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11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62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52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84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05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63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955B697-7EBD-42F4-AE8B-99123CD3E3D0}" type="datetimeFigureOut">
              <a:rPr lang="en-GB" smtClean="0"/>
              <a:t>09/06/2024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FE147A-EB78-4743-836B-BE5D5804C2C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91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FF6594-0529-9FB1-3DE6-743657CCC2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Stohastički</a:t>
            </a:r>
            <a:r>
              <a:rPr lang="en-GB" dirty="0"/>
              <a:t> </a:t>
            </a:r>
            <a:r>
              <a:rPr lang="en-GB" dirty="0" err="1"/>
              <a:t>procesi</a:t>
            </a:r>
            <a:r>
              <a:rPr lang="en-GB" dirty="0"/>
              <a:t> u </a:t>
            </a:r>
            <a:r>
              <a:rPr lang="en-GB" dirty="0" err="1"/>
              <a:t>epidemiologiji</a:t>
            </a:r>
            <a:endParaRPr lang="en-GB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6C61100-D563-7B77-D1C6-5EF8C90C7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Anabel Dautović</a:t>
            </a:r>
          </a:p>
          <a:p>
            <a:r>
              <a:rPr lang="hr-HR" dirty="0"/>
              <a:t>08.06.2024.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989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F9C25D-318B-3AE2-4183-FA0A6001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 prezentacije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DC8B058-150D-3D9D-37E5-FA1D9B5D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Uvod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SIR modeli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Definicija i pretpostavke modela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Deterministički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Stohastički - DTMC (</a:t>
            </a:r>
            <a:r>
              <a:rPr lang="hr-HR" dirty="0" err="1"/>
              <a:t>markovljev</a:t>
            </a:r>
            <a:r>
              <a:rPr lang="hr-HR" dirty="0"/>
              <a:t> lanac s diskretnim t i stanjima), CTMC (</a:t>
            </a:r>
            <a:r>
              <a:rPr lang="hr-HR" dirty="0" err="1"/>
              <a:t>markovljev</a:t>
            </a:r>
            <a:r>
              <a:rPr lang="hr-HR" dirty="0"/>
              <a:t> lanac s kontinuiranim t i diskretnim stanjima)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R</a:t>
            </a:r>
            <a:r>
              <a:rPr lang="hr-HR" sz="1400" dirty="0"/>
              <a:t>0 </a:t>
            </a:r>
            <a:r>
              <a:rPr lang="hr-HR" dirty="0"/>
              <a:t>- bazični reproduktivni faktor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Matrice prijelaza, </a:t>
            </a:r>
            <a:r>
              <a:rPr lang="hr-HR" dirty="0" err="1"/>
              <a:t>kolmogorovljeva</a:t>
            </a:r>
            <a:r>
              <a:rPr lang="hr-HR" dirty="0"/>
              <a:t> </a:t>
            </a:r>
            <a:r>
              <a:rPr lang="hr-HR" dirty="0" err="1"/>
              <a:t>jednađba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Izračun vjerojatnosti izbijanja epidemije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Ostali modeli slični SIR modelu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167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7C2D3A-BDE3-9D6F-7395-E8046512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474F764-375F-AF67-80BF-B2E3B090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Stohastičli</a:t>
            </a:r>
            <a:r>
              <a:rPr lang="hr-HR" dirty="0"/>
              <a:t> procesi u epidemiologiji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dirty="0"/>
              <a:t> r</a:t>
            </a:r>
            <a:r>
              <a:rPr lang="en-GB" dirty="0" err="1"/>
              <a:t>ealističniji</a:t>
            </a:r>
            <a:r>
              <a:rPr lang="en-GB" dirty="0"/>
              <a:t> </a:t>
            </a:r>
            <a:r>
              <a:rPr lang="en-GB" dirty="0" err="1"/>
              <a:t>prikaz</a:t>
            </a:r>
            <a:r>
              <a:rPr lang="en-GB" dirty="0"/>
              <a:t> </a:t>
            </a:r>
            <a:r>
              <a:rPr lang="en-GB" dirty="0" err="1"/>
              <a:t>širenja</a:t>
            </a:r>
            <a:r>
              <a:rPr lang="en-GB" dirty="0"/>
              <a:t> </a:t>
            </a:r>
            <a:r>
              <a:rPr lang="en-GB" dirty="0" err="1"/>
              <a:t>zaraznih</a:t>
            </a:r>
            <a:r>
              <a:rPr lang="en-GB" dirty="0"/>
              <a:t> </a:t>
            </a:r>
            <a:r>
              <a:rPr lang="en-GB" dirty="0" err="1"/>
              <a:t>bolesti</a:t>
            </a:r>
            <a:endParaRPr lang="hr-HR" dirty="0"/>
          </a:p>
          <a:p>
            <a:pPr lvl="1"/>
            <a:r>
              <a:rPr lang="hr-HR" dirty="0"/>
              <a:t> </a:t>
            </a:r>
            <a:r>
              <a:rPr lang="hr-HR" dirty="0" err="1"/>
              <a:t>omogučavaju</a:t>
            </a:r>
            <a:r>
              <a:rPr lang="hr-HR" dirty="0"/>
              <a:t> modeliranje slučajnih </a:t>
            </a:r>
            <a:r>
              <a:rPr lang="en-GB" dirty="0" err="1"/>
              <a:t>događaj</a:t>
            </a:r>
            <a:r>
              <a:rPr lang="hr-HR" dirty="0"/>
              <a:t>a</a:t>
            </a:r>
            <a:r>
              <a:rPr lang="en-GB" dirty="0"/>
              <a:t> </a:t>
            </a:r>
            <a:r>
              <a:rPr lang="en-GB" dirty="0" err="1"/>
              <a:t>poput</a:t>
            </a:r>
            <a:r>
              <a:rPr lang="en-GB" dirty="0"/>
              <a:t> </a:t>
            </a:r>
            <a:r>
              <a:rPr lang="en-GB" dirty="0" err="1"/>
              <a:t>slučajni</a:t>
            </a:r>
            <a:r>
              <a:rPr lang="en-GB" dirty="0"/>
              <a:t> </a:t>
            </a:r>
            <a:r>
              <a:rPr lang="en-GB" dirty="0" err="1"/>
              <a:t>kontakat</a:t>
            </a:r>
            <a:r>
              <a:rPr lang="hr-HR" dirty="0"/>
              <a:t>i</a:t>
            </a:r>
            <a:r>
              <a:rPr lang="en-GB" dirty="0"/>
              <a:t> </a:t>
            </a:r>
            <a:r>
              <a:rPr lang="en-GB" dirty="0" err="1"/>
              <a:t>između</a:t>
            </a:r>
            <a:r>
              <a:rPr lang="en-GB" dirty="0"/>
              <a:t> </a:t>
            </a:r>
            <a:r>
              <a:rPr lang="en-GB" dirty="0" err="1"/>
              <a:t>ljudi</a:t>
            </a:r>
            <a:r>
              <a:rPr lang="hr-HR" dirty="0"/>
              <a:t>, </a:t>
            </a:r>
            <a:r>
              <a:rPr lang="en-GB" dirty="0" err="1"/>
              <a:t>varijacija</a:t>
            </a:r>
            <a:r>
              <a:rPr lang="en-GB" dirty="0"/>
              <a:t> u </a:t>
            </a:r>
            <a:r>
              <a:rPr lang="en-GB" dirty="0" err="1"/>
              <a:t>prijenosu</a:t>
            </a:r>
            <a:r>
              <a:rPr lang="en-GB" dirty="0"/>
              <a:t> </a:t>
            </a:r>
            <a:r>
              <a:rPr lang="en-GB" dirty="0" err="1"/>
              <a:t>bolesti</a:t>
            </a:r>
            <a:r>
              <a:rPr lang="hr-HR" dirty="0"/>
              <a:t> i kretanja populacija</a:t>
            </a:r>
          </a:p>
          <a:p>
            <a:r>
              <a:rPr lang="hr-HR" dirty="0"/>
              <a:t>SIR model </a:t>
            </a:r>
          </a:p>
          <a:p>
            <a:pPr lvl="1"/>
            <a:r>
              <a:rPr lang="hr-HR" dirty="0"/>
              <a:t>prvi put korišten za modeliranje 1916. (Ross.)</a:t>
            </a:r>
          </a:p>
          <a:p>
            <a:pPr lvl="1"/>
            <a:r>
              <a:rPr lang="en-GB" dirty="0" err="1"/>
              <a:t>korišten</a:t>
            </a:r>
            <a:r>
              <a:rPr lang="en-GB" dirty="0"/>
              <a:t> za </a:t>
            </a:r>
            <a:r>
              <a:rPr lang="en-GB" dirty="0" err="1"/>
              <a:t>proučavanje</a:t>
            </a:r>
            <a:r>
              <a:rPr lang="en-GB" dirty="0"/>
              <a:t> </a:t>
            </a:r>
            <a:r>
              <a:rPr lang="en-GB" dirty="0" err="1"/>
              <a:t>širenja</a:t>
            </a:r>
            <a:r>
              <a:rPr lang="en-GB" dirty="0"/>
              <a:t> </a:t>
            </a:r>
            <a:r>
              <a:rPr lang="en-GB" dirty="0" err="1"/>
              <a:t>bolesti</a:t>
            </a:r>
            <a:r>
              <a:rPr lang="en-GB" dirty="0"/>
              <a:t> </a:t>
            </a:r>
            <a:r>
              <a:rPr lang="en-GB" dirty="0" err="1"/>
              <a:t>poput</a:t>
            </a:r>
            <a:r>
              <a:rPr lang="en-GB" dirty="0"/>
              <a:t> </a:t>
            </a:r>
            <a:r>
              <a:rPr lang="en-GB" dirty="0" err="1"/>
              <a:t>ospica</a:t>
            </a:r>
            <a:r>
              <a:rPr lang="en-GB" dirty="0"/>
              <a:t>, </a:t>
            </a:r>
            <a:r>
              <a:rPr lang="en-GB" dirty="0" err="1"/>
              <a:t>dječje</a:t>
            </a:r>
            <a:r>
              <a:rPr lang="en-GB" dirty="0"/>
              <a:t> </a:t>
            </a:r>
            <a:r>
              <a:rPr lang="en-GB" dirty="0" err="1"/>
              <a:t>paralize</a:t>
            </a:r>
            <a:r>
              <a:rPr lang="en-GB" dirty="0"/>
              <a:t>, HIV/AIDS-a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nedavno</a:t>
            </a:r>
            <a:r>
              <a:rPr lang="en-GB" dirty="0"/>
              <a:t>, COVID-19.</a:t>
            </a:r>
          </a:p>
        </p:txBody>
      </p:sp>
    </p:spTree>
    <p:extLst>
      <p:ext uri="{BB962C8B-B14F-4D97-AF65-F5344CB8AC3E}">
        <p14:creationId xmlns:p14="http://schemas.microsoft.com/office/powerpoint/2010/main" val="38757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F824B59-6D41-9BE6-A1EB-0433E16A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SIR deterministički model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AEF88F6-D23C-2315-6091-814415B1C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dirty="0"/>
              <a:t>3 </a:t>
            </a:r>
            <a:r>
              <a:rPr lang="en-US" dirty="0" err="1"/>
              <a:t>skupa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dijelimo</a:t>
            </a:r>
            <a:r>
              <a:rPr lang="en-US" dirty="0"/>
              <a:t> </a:t>
            </a:r>
            <a:r>
              <a:rPr lang="en-US" dirty="0" err="1"/>
              <a:t>populaciju</a:t>
            </a:r>
            <a:endParaRPr lang="hr-HR" sz="1800" dirty="0">
              <a:latin typeface="Roobert" panose="020B060402020202020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obert" panose="020B0604020202020204" charset="0"/>
              </a:rPr>
              <a:t>Broj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dirty="0" err="1">
                <a:latin typeface="Roobert" panose="020B0604020202020204" charset="0"/>
              </a:rPr>
              <a:t>podložnih</a:t>
            </a:r>
            <a:r>
              <a:rPr lang="en-US" sz="2000" dirty="0">
                <a:latin typeface="Roobert" panose="020B0604020202020204" charset="0"/>
              </a:rPr>
              <a:t> (</a:t>
            </a:r>
            <a:r>
              <a:rPr lang="en-US" sz="2000" dirty="0" err="1">
                <a:latin typeface="Roobert" panose="020B0604020202020204" charset="0"/>
              </a:rPr>
              <a:t>eng.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i="1" dirty="0" err="1">
                <a:latin typeface="Roobert" panose="020B0604020202020204" charset="0"/>
              </a:rPr>
              <a:t>Susceptibles</a:t>
            </a:r>
            <a:r>
              <a:rPr lang="en-US" sz="2000" dirty="0">
                <a:latin typeface="Roobert" panose="020B0604020202020204" charset="0"/>
              </a:rPr>
              <a:t>) – 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obert" panose="020B0604020202020204" charset="0"/>
              </a:rPr>
              <a:t>Broj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dirty="0" err="1">
                <a:latin typeface="Roobert" panose="020B0604020202020204" charset="0"/>
              </a:rPr>
              <a:t>zaraženih</a:t>
            </a:r>
            <a:r>
              <a:rPr lang="en-US" sz="2000" dirty="0">
                <a:latin typeface="Roobert" panose="020B0604020202020204" charset="0"/>
              </a:rPr>
              <a:t> (</a:t>
            </a:r>
            <a:r>
              <a:rPr lang="en-US" sz="2000" dirty="0" err="1">
                <a:latin typeface="Roobert" panose="020B0604020202020204" charset="0"/>
              </a:rPr>
              <a:t>eng.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i="1" dirty="0" err="1">
                <a:latin typeface="Roobert" panose="020B0604020202020204" charset="0"/>
              </a:rPr>
              <a:t>Infecteds</a:t>
            </a:r>
            <a:r>
              <a:rPr lang="en-US" sz="2000" dirty="0">
                <a:latin typeface="Roobert" panose="020B0604020202020204" charset="0"/>
              </a:rPr>
              <a:t>) – I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obert" panose="020B0604020202020204" charset="0"/>
              </a:rPr>
              <a:t>Broj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dirty="0" err="1">
                <a:latin typeface="Roobert" panose="020B0604020202020204" charset="0"/>
              </a:rPr>
              <a:t>oporavljenih</a:t>
            </a:r>
            <a:r>
              <a:rPr lang="en-US" sz="2000" dirty="0">
                <a:latin typeface="Roobert" panose="020B0604020202020204" charset="0"/>
              </a:rPr>
              <a:t> (</a:t>
            </a:r>
            <a:r>
              <a:rPr lang="en-US" sz="2000" dirty="0" err="1">
                <a:latin typeface="Roobert" panose="020B0604020202020204" charset="0"/>
              </a:rPr>
              <a:t>eng.</a:t>
            </a:r>
            <a:r>
              <a:rPr lang="en-US" sz="2000" dirty="0">
                <a:latin typeface="Roobert" panose="020B0604020202020204" charset="0"/>
              </a:rPr>
              <a:t> </a:t>
            </a:r>
            <a:r>
              <a:rPr lang="en-US" sz="2000" i="1" dirty="0" err="1">
                <a:latin typeface="Roobert" panose="020B0604020202020204" charset="0"/>
              </a:rPr>
              <a:t>Recovereds</a:t>
            </a:r>
            <a:r>
              <a:rPr lang="en-US" sz="2000" dirty="0">
                <a:latin typeface="Roobert" panose="020B0604020202020204" charset="0"/>
              </a:rPr>
              <a:t>) – R</a:t>
            </a:r>
            <a:endParaRPr lang="hr-HR" sz="2000" dirty="0">
              <a:latin typeface="Roober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3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EF3B84F-B6D2-6E52-8062-F8898604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Pretpostavke modela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AFAD960-7B74-3669-596A-373E5458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 </a:t>
            </a:r>
            <a:r>
              <a:rPr lang="en-US" dirty="0" err="1"/>
              <a:t>postoji</a:t>
            </a:r>
            <a:r>
              <a:rPr lang="en-US" dirty="0"/>
              <a:t> period </a:t>
            </a:r>
            <a:r>
              <a:rPr lang="en-US" dirty="0" err="1"/>
              <a:t>inkubacije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Homogenost</a:t>
            </a:r>
            <a:r>
              <a:rPr lang="en-US" dirty="0"/>
              <a:t> </a:t>
            </a:r>
            <a:r>
              <a:rPr lang="en-US" dirty="0" err="1"/>
              <a:t>populacije</a:t>
            </a:r>
            <a:r>
              <a:rPr lang="en-US" dirty="0"/>
              <a:t> </a:t>
            </a:r>
            <a:r>
              <a:rPr lang="hr-HR" dirty="0"/>
              <a:t>-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jednako</a:t>
            </a:r>
            <a:r>
              <a:rPr lang="en-US" dirty="0"/>
              <a:t> </a:t>
            </a:r>
            <a:r>
              <a:rPr lang="en-US" dirty="0" err="1"/>
              <a:t>podložni</a:t>
            </a:r>
            <a:r>
              <a:rPr lang="en-US" dirty="0"/>
              <a:t> </a:t>
            </a:r>
            <a:r>
              <a:rPr lang="en-US" dirty="0" err="1"/>
              <a:t>bolesti</a:t>
            </a:r>
            <a:r>
              <a:rPr lang="en-US" dirty="0"/>
              <a:t>, </a:t>
            </a:r>
            <a:r>
              <a:rPr lang="en-US" dirty="0" err="1"/>
              <a:t>neovisno</a:t>
            </a:r>
            <a:r>
              <a:rPr lang="en-US" dirty="0"/>
              <a:t> o </a:t>
            </a:r>
            <a:r>
              <a:rPr lang="en-US" dirty="0" err="1"/>
              <a:t>dobi</a:t>
            </a:r>
            <a:r>
              <a:rPr lang="en-US" dirty="0"/>
              <a:t>, </a:t>
            </a:r>
            <a:r>
              <a:rPr lang="en-US" dirty="0" err="1"/>
              <a:t>prostoru</a:t>
            </a:r>
            <a:r>
              <a:rPr lang="en-US" dirty="0"/>
              <a:t> </a:t>
            </a:r>
            <a:r>
              <a:rPr lang="en-US" dirty="0" err="1"/>
              <a:t>gdje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ostalim</a:t>
            </a:r>
            <a:r>
              <a:rPr lang="en-US" dirty="0"/>
              <a:t> </a:t>
            </a:r>
            <a:r>
              <a:rPr lang="en-US" dirty="0" err="1"/>
              <a:t>socijalnim</a:t>
            </a:r>
            <a:r>
              <a:rPr lang="en-US" dirty="0"/>
              <a:t> </a:t>
            </a:r>
            <a:r>
              <a:rPr lang="en-US" dirty="0" err="1"/>
              <a:t>parametrima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Bolest</a:t>
            </a:r>
            <a:r>
              <a:rPr lang="en-US" dirty="0"/>
              <a:t> se </a:t>
            </a:r>
            <a:r>
              <a:rPr lang="en-US" dirty="0" err="1"/>
              <a:t>prenosi</a:t>
            </a:r>
            <a:r>
              <a:rPr lang="en-US" dirty="0"/>
              <a:t> </a:t>
            </a:r>
            <a:r>
              <a:rPr lang="en-US" dirty="0" err="1"/>
              <a:t>kontaktom</a:t>
            </a:r>
            <a:r>
              <a:rPr lang="en-US" dirty="0"/>
              <a:t> </a:t>
            </a:r>
            <a:r>
              <a:rPr lang="en-US" dirty="0" err="1"/>
              <a:t>onih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podložni</a:t>
            </a:r>
            <a:r>
              <a:rPr lang="en-US" dirty="0"/>
              <a:t> </a:t>
            </a:r>
            <a:r>
              <a:rPr lang="en-US" dirty="0" err="1"/>
              <a:t>zarazi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zaraženih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77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6015A5A-C79B-F929-DB4C-7C5EE3CF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Deterministički SIR modeli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D9C074D9-404C-B927-6BC2-A2D3CBD5932D}"/>
                  </a:ext>
                </a:extLst>
              </p:cNvPr>
              <p:cNvSpPr txBox="1"/>
              <p:nvPr/>
            </p:nvSpPr>
            <p:spPr bwMode="auto">
              <a:xfrm>
                <a:off x="1097280" y="1974850"/>
                <a:ext cx="4051300" cy="290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en-GB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GB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βSI</m:t>
                    </m:r>
                  </m:oMath>
                </a14:m>
                <a:r>
                  <a:rPr lang="hr-HR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/N + b(I + R)</a:t>
                </a:r>
                <a:br>
                  <a:rPr lang="en-GB" sz="20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r-H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βSI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hr-H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m:rPr>
                          <m:sty m:val="p"/>
                        </m:rP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γI</m:t>
                      </m:r>
                      <m: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hr-H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bR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konst</m:t>
                      </m:r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D9C074D9-404C-B927-6BC2-A2D3CBD59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1974850"/>
                <a:ext cx="4051300" cy="2908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1DBDB5B0-4450-5456-C6E1-AC73EDCD22F6}"/>
                  </a:ext>
                </a:extLst>
              </p:cNvPr>
              <p:cNvSpPr txBox="1"/>
              <p:nvPr/>
            </p:nvSpPr>
            <p:spPr bwMode="auto">
              <a:xfrm>
                <a:off x="1097280" y="4552294"/>
                <a:ext cx="2051972" cy="1308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poc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poc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poc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1DBDB5B0-4450-5456-C6E1-AC73EDCD2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280" y="4552294"/>
                <a:ext cx="2051972" cy="1308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C2C280A2-96F5-51AD-0EB5-9E044195CB83}"/>
                  </a:ext>
                </a:extLst>
              </p:cNvPr>
              <p:cNvSpPr txBox="1"/>
              <p:nvPr/>
            </p:nvSpPr>
            <p:spPr bwMode="auto">
              <a:xfrm>
                <a:off x="5450596" y="2069485"/>
                <a:ext cx="3185652" cy="2179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noAutofit/>
              </a:bodyPr>
              <a:lstStyle/>
              <a:p>
                <a:r>
                  <a:rPr lang="hr-HR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Fiksne stope prijelaza</a:t>
                </a:r>
              </a:p>
              <a:p>
                <a:r>
                  <a:rPr lang="en-GB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𝛽 – </a:t>
                </a:r>
                <a:r>
                  <a:rPr lang="en-GB" sz="1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stopa</a:t>
                </a:r>
                <a:r>
                  <a:rPr lang="en-GB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GB" sz="1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zaraze</a:t>
                </a:r>
                <a:endParaRPr lang="en-GB" sz="1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en-GB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𝛾 – </a:t>
                </a:r>
                <a:r>
                  <a:rPr lang="en-GB" sz="1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stopa</a:t>
                </a:r>
                <a:r>
                  <a:rPr lang="en-GB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GB" sz="1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oporavka</a:t>
                </a:r>
                <a:endParaRPr lang="hr-HR" sz="1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hr-HR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 – stopa nataliteta i mortaliteta</a:t>
                </a:r>
              </a:p>
              <a:p>
                <a:r>
                  <a:rPr lang="hr-H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 – ukupan broj jedinki populacije</a:t>
                </a:r>
              </a:p>
              <a:p>
                <a:r>
                  <a:rPr lang="hr-HR" dirty="0"/>
                  <a:t>R</a:t>
                </a:r>
                <a:r>
                  <a:rPr lang="hr-HR" sz="1100" dirty="0"/>
                  <a:t>0</a:t>
                </a:r>
                <a:r>
                  <a:rPr lang="hr-HR" sz="1600" dirty="0"/>
                  <a:t> –</a:t>
                </a:r>
                <a:r>
                  <a:rPr lang="hr-HR" dirty="0"/>
                  <a:t> bazični reproduktivni faktor</a:t>
                </a:r>
                <a:endParaRPr lang="hr-HR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hr-HR" sz="1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hr-HR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C2C280A2-96F5-51AD-0EB5-9E044195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0596" y="2069485"/>
                <a:ext cx="3185652" cy="2179505"/>
              </a:xfrm>
              <a:prstGeom prst="rect">
                <a:avLst/>
              </a:prstGeom>
              <a:blipFill>
                <a:blip r:embed="rId4"/>
                <a:stretch>
                  <a:fillRect l="-1530" t="-1397" r="-1530" b="-43296"/>
                </a:stretch>
              </a:blipFill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Slika 16">
            <a:extLst>
              <a:ext uri="{FF2B5EF4-FFF2-40B4-BE49-F238E27FC236}">
                <a16:creationId xmlns:a16="http://schemas.microsoft.com/office/drawing/2014/main" id="{CB63952D-8111-4D01-906D-AF4239249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4454274"/>
            <a:ext cx="1419926" cy="8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7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B36704C-5570-278A-13F6-AB3A9E67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</a:t>
            </a:r>
            <a:r>
              <a:rPr lang="hr-HR" sz="2800" dirty="0"/>
              <a:t>0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6111B05-EA0E-FB0B-F696-87B006A0C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Infekcija je </a:t>
            </a:r>
            <a:r>
              <a:rPr lang="hr-HR" dirty="0" err="1"/>
              <a:t>Poissonov</a:t>
            </a:r>
            <a:r>
              <a:rPr lang="hr-HR" dirty="0"/>
              <a:t> proces s intenzitetom   , </a:t>
            </a:r>
          </a:p>
          <a:p>
            <a:r>
              <a:rPr lang="hr-HR" dirty="0"/>
              <a:t>X - broj zaraza preko jednog pojedinca, </a:t>
            </a:r>
          </a:p>
          <a:p>
            <a:r>
              <a:rPr lang="hr-HR" dirty="0"/>
              <a:t>T - duljina perioda zaraze pojedinca s eksponencijalnom razdiobom</a:t>
            </a:r>
          </a:p>
          <a:p>
            <a:pPr marL="0" indent="0">
              <a:buNone/>
            </a:pPr>
            <a:r>
              <a:rPr lang="hr-HR" dirty="0"/>
              <a:t>  R</a:t>
            </a:r>
            <a:r>
              <a:rPr lang="hr-HR" sz="1200" dirty="0"/>
              <a:t>0</a:t>
            </a:r>
            <a:r>
              <a:rPr lang="hr-HR" sz="1800" dirty="0"/>
              <a:t> –</a:t>
            </a:r>
            <a:r>
              <a:rPr lang="hr-HR" dirty="0"/>
              <a:t> bazični reproduktivni faktor - broj zaraza preko jednog pojedinca u populaciji gdje S = N</a:t>
            </a:r>
            <a:endParaRPr lang="en-GB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29D4A5-1738-7FF1-8F3F-BE5A6005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4084288"/>
            <a:ext cx="2540000" cy="472558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880617C8-D4AE-0B58-A033-BD7F81A9D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65220"/>
            <a:ext cx="1581371" cy="419158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8AAC390-AE36-7484-0783-2DACFDB4D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115614"/>
            <a:ext cx="1991003" cy="438211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4C80B11B-CC73-8764-CB97-102EFBB10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250" y="1845734"/>
            <a:ext cx="159395" cy="441960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2784B717-1817-7F68-11E4-5F9347160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641" y="5499022"/>
            <a:ext cx="1225239" cy="74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8F48DD7-FC0F-289F-2406-C76AD797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</a:t>
            </a:r>
            <a:r>
              <a:rPr lang="hr-HR" sz="3600" dirty="0"/>
              <a:t>0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5412485-C31D-6A4E-9F8F-38056DAD5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</a:t>
            </a:r>
            <a:r>
              <a:rPr lang="hr-HR" sz="1200" dirty="0"/>
              <a:t>0</a:t>
            </a:r>
            <a:r>
              <a:rPr lang="hr-HR" dirty="0"/>
              <a:t> </a:t>
            </a:r>
            <a:r>
              <a:rPr lang="hr-HR" dirty="0" err="1"/>
              <a:t>determinstički</a:t>
            </a:r>
            <a:r>
              <a:rPr lang="hr-HR" dirty="0"/>
              <a:t> određuje razvoj epidemije </a:t>
            </a:r>
            <a:endParaRPr lang="en-GB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9AC2F1B5-CC8B-F7EE-CF3E-F930D0AF4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90"/>
          <a:stretch/>
        </p:blipFill>
        <p:spPr>
          <a:xfrm>
            <a:off x="761255" y="2499360"/>
            <a:ext cx="10669489" cy="1861325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5498E7B6-1DC8-C31C-6840-AB3900D60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56" y="3429000"/>
            <a:ext cx="3743847" cy="323895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EA94594-EB35-968B-DBCF-654EEE67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56" y="3752895"/>
            <a:ext cx="3743847" cy="323895"/>
          </a:xfrm>
          <a:prstGeom prst="rect">
            <a:avLst/>
          </a:prstGeom>
        </p:spPr>
      </p:pic>
      <p:sp>
        <p:nvSpPr>
          <p:cNvPr id="10" name="TekstniOkvir 9">
            <a:extLst>
              <a:ext uri="{FF2B5EF4-FFF2-40B4-BE49-F238E27FC236}">
                <a16:creationId xmlns:a16="http://schemas.microsoft.com/office/drawing/2014/main" id="{773D3784-9B73-4518-4468-826A65079153}"/>
              </a:ext>
            </a:extLst>
          </p:cNvPr>
          <p:cNvSpPr txBox="1"/>
          <p:nvPr/>
        </p:nvSpPr>
        <p:spPr>
          <a:xfrm>
            <a:off x="5778556" y="3387126"/>
            <a:ext cx="2158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monotono opada u 0</a:t>
            </a:r>
            <a:endParaRPr lang="en-GB" dirty="0"/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C3687D06-9623-E6F9-4A5D-5C6456725D60}"/>
              </a:ext>
            </a:extLst>
          </p:cNvPr>
          <p:cNvSpPr txBox="1"/>
          <p:nvPr/>
        </p:nvSpPr>
        <p:spPr>
          <a:xfrm>
            <a:off x="5118156" y="3707458"/>
            <a:ext cx="320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i="1" dirty="0">
                <a:latin typeface="MathJax_Main"/>
              </a:rPr>
              <a:t>I(t) </a:t>
            </a:r>
            <a:r>
              <a:rPr lang="hr-HR" dirty="0"/>
              <a:t>inicijalno raste, pa opada u 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361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BE1BF9-659D-97A6-9485-1BBC7D41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Stohastički SIR model 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C350E5B-E201-D8E0-8939-CAD423C4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19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>
                <a:latin typeface="MathJax_Main"/>
              </a:rPr>
              <a:t> DTMC - vrijeme t i stanja diskretna, CTMC – vrijeme t kontinuirano, stanja diskretna</a:t>
            </a:r>
          </a:p>
          <a:p>
            <a:pPr marL="0" indent="0">
              <a:buNone/>
            </a:pPr>
            <a:endParaRPr lang="hr-HR" dirty="0">
              <a:latin typeface="MathJax_Main"/>
            </a:endParaRPr>
          </a:p>
          <a:p>
            <a:pPr marL="0" indent="0">
              <a:buNone/>
            </a:pPr>
            <a:r>
              <a:rPr lang="hr-HR" sz="1800" dirty="0">
                <a:solidFill>
                  <a:schemeClr val="tx1"/>
                </a:solidFill>
                <a:latin typeface="MathJax_Main"/>
              </a:rPr>
              <a:t> - </a:t>
            </a:r>
            <a:r>
              <a:rPr lang="en-GB" sz="1600" dirty="0">
                <a:solidFill>
                  <a:schemeClr val="tx1"/>
                </a:solidFill>
                <a:latin typeface="MathJax_Main"/>
              </a:rPr>
              <a:t>t ∈ [0,∞]</a:t>
            </a:r>
            <a:r>
              <a:rPr lang="hr-HR" sz="1600" dirty="0">
                <a:solidFill>
                  <a:schemeClr val="tx1"/>
                </a:solidFill>
                <a:latin typeface="MathJax_Main"/>
              </a:rPr>
              <a:t>, </a:t>
            </a:r>
            <a:r>
              <a:rPr lang="en-GB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S(t),</a:t>
            </a:r>
            <a:r>
              <a:rPr lang="hr-HR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 </a:t>
            </a:r>
            <a:r>
              <a:rPr lang="en-GB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I(t)</a:t>
            </a:r>
            <a:r>
              <a:rPr lang="hr-HR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 R(t) </a:t>
            </a:r>
            <a:r>
              <a:rPr lang="hr-HR" sz="1800" b="0" i="0" u="none" strike="noStrike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markovljevi</a:t>
            </a:r>
            <a:r>
              <a:rPr lang="hr-HR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 lanci sa stanjima </a:t>
            </a:r>
            <a:r>
              <a:rPr lang="en-GB" sz="1800" b="0" i="0" u="none" strike="noStrike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∈{0,1,2,…,N}</a:t>
            </a:r>
            <a:endParaRPr lang="hr-HR" sz="1800" b="0" i="0" u="none" strike="noStrike" dirty="0">
              <a:solidFill>
                <a:srgbClr val="212121"/>
              </a:solidFill>
              <a:effectLst/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endParaRPr lang="hr-HR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r>
              <a:rPr lang="hr-HR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 - R(t) = N – S(t) – I(t),  </a:t>
            </a:r>
          </a:p>
          <a:p>
            <a:pPr marL="0" indent="0">
              <a:buNone/>
            </a:pPr>
            <a:r>
              <a:rPr lang="hr-HR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 - </a:t>
            </a:r>
            <a:r>
              <a:rPr lang="hr-HR" sz="1800" dirty="0" err="1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Process</a:t>
            </a:r>
            <a:r>
              <a:rPr lang="hr-HR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 ovisi samo o S(t) i I(t)</a:t>
            </a:r>
          </a:p>
          <a:p>
            <a:pPr marL="0" indent="0">
              <a:buNone/>
            </a:pPr>
            <a:r>
              <a:rPr lang="hr-HR" sz="1800" b="0" i="1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MathJax_Main"/>
              </a:rPr>
              <a:t> 	- 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p</a:t>
            </a:r>
            <a:r>
              <a:rPr lang="pl-PL" sz="16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6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6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</a:t>
            </a:r>
            <a:r>
              <a:rPr lang="pl-PL" sz="16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6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 = ℙ(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), 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)) = (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 </a:t>
            </a:r>
            <a:r>
              <a:rPr lang="pl-PL" sz="16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6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))</a:t>
            </a:r>
          </a:p>
          <a:p>
            <a:pPr marL="0" indent="0">
              <a:buNone/>
            </a:pPr>
            <a:endParaRPr lang="hr-HR" sz="16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r>
              <a:rPr lang="hr-HR" sz="1800" dirty="0">
                <a:latin typeface="MathJax_Main"/>
              </a:rPr>
              <a:t>- </a:t>
            </a:r>
            <a:r>
              <a:rPr lang="hr-HR" sz="1800" dirty="0">
                <a:solidFill>
                  <a:schemeClr val="tx1"/>
                </a:solidFill>
                <a:latin typeface="MathJax_Main"/>
              </a:rPr>
              <a:t>Vjerojatnosti prijelaza:</a:t>
            </a:r>
          </a:p>
          <a:p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p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),(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+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k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+</a:t>
            </a:r>
            <a:r>
              <a:rPr lang="pl-PL" sz="1800" b="0" i="1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j</a:t>
            </a:r>
            <a:r>
              <a:rPr lang="pl-PL" sz="1800" b="0" i="0" baseline="-2500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(Δ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 = ℙ((Δ</a:t>
            </a:r>
            <a:r>
              <a:rPr lang="pl-PL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 ΔI) = (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k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 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j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 | (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), 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(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t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)) = (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 </a:t>
            </a:r>
            <a:r>
              <a:rPr lang="pl-PL" sz="1800" b="0" i="1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pl-PL" sz="18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))</a:t>
            </a:r>
            <a:endParaRPr lang="hr-HR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623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4CA29CB-0788-90CF-1EEC-93E0C278B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545759"/>
            <a:ext cx="10058400" cy="5730739"/>
          </a:xfrm>
        </p:spPr>
        <p:txBody>
          <a:bodyPr>
            <a:normAutofit/>
          </a:bodyPr>
          <a:lstStyle/>
          <a:p>
            <a:endParaRPr lang="pl-PL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r>
              <a:rPr lang="pl-PL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βis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NΔt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)=(−1,+1)</a:t>
            </a:r>
            <a:endParaRPr lang="pl-PL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γiΔt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)=(0,−1)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</a:p>
          <a:p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),(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s+k,i+j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=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bi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                                              (k, j)=(1, -1)</a:t>
            </a:r>
            <a:endParaRPr lang="hr-HR" altLang="en-US" sz="1800" dirty="0">
              <a:solidFill>
                <a:srgbClr val="212121"/>
              </a:solidFill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</a:t>
            </a:r>
            <a:r>
              <a:rPr lang="pt-BR" sz="1800" dirty="0">
                <a:solidFill>
                  <a:schemeClr val="tx1"/>
                </a:solidFill>
                <a:latin typeface="MathJax_Main"/>
              </a:rPr>
              <a:t>b(N − s − i)∆t,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                                   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(k, j)=(1, 0)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−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(βis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N)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- </a:t>
            </a:r>
            <a:r>
              <a:rPr lang="pt-BR" sz="1800" dirty="0">
                <a:latin typeface="MathJax_Main"/>
              </a:rPr>
              <a:t>[γi + b(N − s)]∆t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)=(0,0)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0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                                                         inače</a:t>
            </a:r>
            <a:endParaRPr lang="pl-PL" altLang="en-US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endParaRPr lang="hr-HR" sz="700" b="0" dirty="0">
              <a:solidFill>
                <a:srgbClr val="212121"/>
              </a:solidFill>
              <a:effectLst/>
              <a:highlight>
                <a:srgbClr val="FFFFFF"/>
              </a:highlight>
              <a:latin typeface="MathJax_Main"/>
            </a:endParaRPr>
          </a:p>
          <a:p>
            <a:endParaRPr lang="en-GB" dirty="0">
              <a:latin typeface="MathJax_Main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51310C6-5094-1D46-9F34-85F610217659}"/>
              </a:ext>
            </a:extLst>
          </p:cNvPr>
          <p:cNvSpPr txBox="1"/>
          <p:nvPr/>
        </p:nvSpPr>
        <p:spPr>
          <a:xfrm>
            <a:off x="1066799" y="830384"/>
            <a:ext cx="8108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Matrica prijelaza - DTMC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4E7D8C09-0F1A-7808-E7B1-A7B2B8114575}"/>
              </a:ext>
            </a:extLst>
          </p:cNvPr>
          <p:cNvSpPr txBox="1"/>
          <p:nvPr/>
        </p:nvSpPr>
        <p:spPr>
          <a:xfrm>
            <a:off x="7924800" y="4411129"/>
            <a:ext cx="35986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S(0) = N − </a:t>
            </a:r>
            <a:r>
              <a:rPr lang="en-GB" sz="1800" b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 </a:t>
            </a:r>
            <a:r>
              <a:rPr lang="hr-HR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   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I(0) = </a:t>
            </a:r>
            <a:r>
              <a:rPr lang="en-GB" sz="1800" b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 &gt; 0</a:t>
            </a:r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</a:t>
            </a:r>
            <a:r>
              <a:rPr lang="hr-HR" dirty="0">
                <a:latin typeface="MathJax_Main"/>
              </a:rPr>
              <a:t>t dovoljno velik da se dogodi jedna smrt, rođenje, infekcija ili opravak</a:t>
            </a:r>
          </a:p>
          <a:p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∆S = S</a:t>
            </a:r>
            <a:r>
              <a:rPr lang="en-GB" sz="1200" dirty="0">
                <a:latin typeface="MathJax_Main"/>
              </a:rPr>
              <a:t>t+∆t </a:t>
            </a:r>
            <a:r>
              <a:rPr lang="en-GB" dirty="0">
                <a:latin typeface="MathJax_Main"/>
              </a:rPr>
              <a:t>−S</a:t>
            </a:r>
            <a:r>
              <a:rPr lang="en-GB" sz="1200" dirty="0">
                <a:latin typeface="MathJax_Main"/>
              </a:rPr>
              <a:t>t</a:t>
            </a:r>
            <a:r>
              <a:rPr lang="en-GB" dirty="0">
                <a:latin typeface="MathJax_Main"/>
              </a:rPr>
              <a:t> </a:t>
            </a:r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∆I = I</a:t>
            </a:r>
            <a:r>
              <a:rPr lang="en-GB" sz="1200" dirty="0">
                <a:latin typeface="MathJax_Main"/>
              </a:rPr>
              <a:t>t+∆t </a:t>
            </a:r>
            <a:r>
              <a:rPr lang="en-GB" dirty="0">
                <a:latin typeface="MathJax_Main"/>
              </a:rPr>
              <a:t>− I</a:t>
            </a:r>
            <a:r>
              <a:rPr lang="en-GB" sz="1200" dirty="0">
                <a:latin typeface="MathJax_Main"/>
              </a:rPr>
              <a:t>t</a:t>
            </a:r>
            <a:endParaRPr lang="en-GB" dirty="0">
              <a:latin typeface="MathJax_Main"/>
            </a:endParaRPr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381691BB-05DD-46C2-5CDD-7068DDD7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18" y="1986684"/>
            <a:ext cx="238044" cy="2516839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6A1F3935-0461-BCBA-B77C-1CB34BE46B7F}"/>
              </a:ext>
            </a:extLst>
          </p:cNvPr>
          <p:cNvSpPr txBox="1"/>
          <p:nvPr/>
        </p:nvSpPr>
        <p:spPr>
          <a:xfrm>
            <a:off x="993059" y="4762319"/>
            <a:ext cx="632214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r-H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MathJax_Main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t+Δt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=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(s+1,i−1)</a:t>
            </a:r>
            <a:r>
              <a:rPr kumimoji="0" lang="hr-H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t)β(s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1)(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−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(s,i+1)</a:t>
            </a:r>
            <a:r>
              <a:rPr kumimoji="0" lang="hr-H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(t)γ(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          +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(s−1,i+1)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b(i + 1)/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NΔt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+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</a:t>
            </a:r>
            <a:r>
              <a:rPr lang="hr-HR" altLang="en-US" sz="1200" dirty="0">
                <a:solidFill>
                  <a:srgbClr val="212121"/>
                </a:solidFill>
                <a:latin typeface="MathJax_Main"/>
              </a:rPr>
              <a:t>-</a:t>
            </a:r>
            <a:r>
              <a:rPr kumimoji="0" lang="hr-H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(t)[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 – s + 1 - i]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          +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1− 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[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β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Nsi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γi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+ b(N-s)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]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endParaRPr lang="en-GB" dirty="0"/>
          </a:p>
        </p:txBody>
      </p:sp>
      <p:graphicFrame>
        <p:nvGraphicFramePr>
          <p:cNvPr id="7" name="Tablica 6">
            <a:extLst>
              <a:ext uri="{FF2B5EF4-FFF2-40B4-BE49-F238E27FC236}">
                <a16:creationId xmlns:a16="http://schemas.microsoft.com/office/drawing/2014/main" id="{9D290AC7-7291-2DBE-B2FD-FD1AC2426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88124"/>
              </p:ext>
            </p:extLst>
          </p:nvPr>
        </p:nvGraphicFramePr>
        <p:xfrm>
          <a:off x="7924800" y="1851140"/>
          <a:ext cx="3323969" cy="2103120"/>
        </p:xfrm>
        <a:graphic>
          <a:graphicData uri="http://schemas.openxmlformats.org/drawingml/2006/table">
            <a:tbl>
              <a:tblPr/>
              <a:tblGrid>
                <a:gridCol w="1888460">
                  <a:extLst>
                    <a:ext uri="{9D8B030D-6E8A-4147-A177-3AD203B41FA5}">
                      <a16:colId xmlns:a16="http://schemas.microsoft.com/office/drawing/2014/main" val="832579981"/>
                    </a:ext>
                  </a:extLst>
                </a:gridCol>
                <a:gridCol w="1435509">
                  <a:extLst>
                    <a:ext uri="{9D8B030D-6E8A-4147-A177-3AD203B41FA5}">
                      <a16:colId xmlns:a16="http://schemas.microsoft.com/office/drawing/2014/main" val="3341286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hr-HR" b="1" dirty="0">
                          <a:effectLst/>
                        </a:rPr>
                        <a:t>Događaj</a:t>
                      </a:r>
                      <a:endParaRPr lang="en-GB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hr-HR" b="1" dirty="0">
                          <a:effectLst/>
                        </a:rPr>
                        <a:t>Promjena</a:t>
                      </a:r>
                      <a:r>
                        <a:rPr lang="en-GB" b="1" dirty="0">
                          <a:effectLst/>
                        </a:rPr>
                        <a:t> (</a:t>
                      </a:r>
                      <a:r>
                        <a:rPr lang="el-GR" b="1" dirty="0">
                          <a:effectLst/>
                        </a:rPr>
                        <a:t>Δ</a:t>
                      </a:r>
                      <a:r>
                        <a:rPr lang="en-GB" b="1" i="1" dirty="0">
                          <a:effectLst/>
                        </a:rPr>
                        <a:t>S</a:t>
                      </a:r>
                      <a:r>
                        <a:rPr lang="en-GB" b="1" dirty="0">
                          <a:effectLst/>
                        </a:rPr>
                        <a:t>, </a:t>
                      </a:r>
                      <a:r>
                        <a:rPr lang="el-GR" b="1" dirty="0">
                          <a:effectLst/>
                        </a:rPr>
                        <a:t>Δ</a:t>
                      </a:r>
                      <a:r>
                        <a:rPr lang="en-GB" b="1" i="1" dirty="0">
                          <a:effectLst/>
                        </a:rPr>
                        <a:t>I</a:t>
                      </a:r>
                      <a:r>
                        <a:rPr lang="en-GB" b="1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Inf</a:t>
                      </a:r>
                      <a:r>
                        <a:rPr lang="hr-HR" b="0" i="0" dirty="0" err="1">
                          <a:effectLst/>
                        </a:rPr>
                        <a:t>ekcija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(−1,  + 1)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979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Smrt ili Oporavak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(0, −1)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73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Rođenje i smrt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(1, -1)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79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Rođenje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(1, 0)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07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050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4CA29CB-0788-90CF-1EEC-93E0C278B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940" y="1494960"/>
            <a:ext cx="10058400" cy="5730739"/>
          </a:xfrm>
        </p:spPr>
        <p:txBody>
          <a:bodyPr>
            <a:normAutofit/>
          </a:bodyPr>
          <a:lstStyle/>
          <a:p>
            <a:endParaRPr lang="pl-PL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r>
              <a:rPr lang="pl-PL" sz="1800" dirty="0">
                <a:solidFill>
                  <a:srgbClr val="212121"/>
                </a:solidFill>
                <a:highlight>
                  <a:srgbClr val="FFFFFF"/>
                </a:highlight>
                <a:latin typeface="MathJax_Main"/>
              </a:rPr>
              <a:t>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βis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NΔt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),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)=(−1,+1)</a:t>
            </a:r>
            <a:endParaRPr lang="pl-PL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γiΔt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)=(0,−1)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</a:p>
          <a:p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),(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s+k,i+j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=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bi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+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                                              (k, j)=(1, -1)</a:t>
            </a:r>
            <a:endParaRPr lang="hr-HR" altLang="en-US" sz="1800" dirty="0">
              <a:solidFill>
                <a:srgbClr val="212121"/>
              </a:solidFill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 </a:t>
            </a:r>
            <a:r>
              <a:rPr lang="pt-BR" sz="1800" dirty="0">
                <a:solidFill>
                  <a:schemeClr val="tx1"/>
                </a:solidFill>
                <a:latin typeface="MathJax_Main"/>
              </a:rPr>
              <a:t>b(N − s − i)∆t</a:t>
            </a:r>
            <a:r>
              <a:rPr lang="hr-HR" sz="1800" dirty="0">
                <a:solidFill>
                  <a:schemeClr val="tx1"/>
                </a:solidFill>
                <a:latin typeface="MathJax_Main"/>
              </a:rPr>
              <a:t> +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lang="pt-BR" sz="1800" dirty="0">
                <a:solidFill>
                  <a:schemeClr val="tx1"/>
                </a:solidFill>
                <a:latin typeface="MathJax_Main"/>
              </a:rPr>
              <a:t>,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                                   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(k, j)=(1, 0)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−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(βis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N)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- </a:t>
            </a:r>
            <a:r>
              <a:rPr lang="pt-BR" sz="1800" dirty="0">
                <a:latin typeface="MathJax_Main"/>
              </a:rPr>
              <a:t>[γi + b(N − s)]∆t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k,j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)=(0,0)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MathJax_Main"/>
            </a:endParaRPr>
          </a:p>
          <a:p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,  </a:t>
            </a:r>
            <a:r>
              <a:rPr lang="hr-HR" altLang="en-US" sz="1800" dirty="0">
                <a:solidFill>
                  <a:srgbClr val="212121"/>
                </a:solidFill>
                <a:latin typeface="MathJax_Main"/>
              </a:rPr>
              <a:t>                                                               inače</a:t>
            </a:r>
            <a:endParaRPr lang="pl-PL" altLang="en-US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endParaRPr lang="hr-HR" sz="700" b="0" dirty="0">
              <a:solidFill>
                <a:srgbClr val="212121"/>
              </a:solidFill>
              <a:effectLst/>
              <a:highlight>
                <a:srgbClr val="FFFFFF"/>
              </a:highlight>
              <a:latin typeface="MathJax_Main"/>
            </a:endParaRPr>
          </a:p>
          <a:p>
            <a:endParaRPr lang="en-GB" dirty="0">
              <a:latin typeface="MathJax_Main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51310C6-5094-1D46-9F34-85F610217659}"/>
              </a:ext>
            </a:extLst>
          </p:cNvPr>
          <p:cNvSpPr txBox="1"/>
          <p:nvPr/>
        </p:nvSpPr>
        <p:spPr>
          <a:xfrm>
            <a:off x="1066800" y="830384"/>
            <a:ext cx="9696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Matrica prijelaza - CTMC</a:t>
            </a:r>
          </a:p>
        </p:txBody>
      </p:sp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84C75784-3C9B-01C7-6E8F-D4D8ECF21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100887"/>
              </p:ext>
            </p:extLst>
          </p:nvPr>
        </p:nvGraphicFramePr>
        <p:xfrm>
          <a:off x="8162511" y="1782314"/>
          <a:ext cx="3323969" cy="2103120"/>
        </p:xfrm>
        <a:graphic>
          <a:graphicData uri="http://schemas.openxmlformats.org/drawingml/2006/table">
            <a:tbl>
              <a:tblPr/>
              <a:tblGrid>
                <a:gridCol w="1888460">
                  <a:extLst>
                    <a:ext uri="{9D8B030D-6E8A-4147-A177-3AD203B41FA5}">
                      <a16:colId xmlns:a16="http://schemas.microsoft.com/office/drawing/2014/main" val="832579981"/>
                    </a:ext>
                  </a:extLst>
                </a:gridCol>
                <a:gridCol w="1435509">
                  <a:extLst>
                    <a:ext uri="{9D8B030D-6E8A-4147-A177-3AD203B41FA5}">
                      <a16:colId xmlns:a16="http://schemas.microsoft.com/office/drawing/2014/main" val="3341286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hr-HR" b="1" dirty="0">
                          <a:effectLst/>
                        </a:rPr>
                        <a:t>Događaj</a:t>
                      </a:r>
                      <a:endParaRPr lang="en-GB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hr-HR" b="1" dirty="0">
                          <a:effectLst/>
                        </a:rPr>
                        <a:t>Promjena</a:t>
                      </a:r>
                      <a:r>
                        <a:rPr lang="en-GB" b="1" dirty="0">
                          <a:effectLst/>
                        </a:rPr>
                        <a:t> (</a:t>
                      </a:r>
                      <a:r>
                        <a:rPr lang="el-GR" b="1" dirty="0">
                          <a:effectLst/>
                        </a:rPr>
                        <a:t>Δ</a:t>
                      </a:r>
                      <a:r>
                        <a:rPr lang="en-GB" b="1" i="1" dirty="0">
                          <a:effectLst/>
                        </a:rPr>
                        <a:t>S</a:t>
                      </a:r>
                      <a:r>
                        <a:rPr lang="en-GB" b="1" dirty="0">
                          <a:effectLst/>
                        </a:rPr>
                        <a:t>, </a:t>
                      </a:r>
                      <a:r>
                        <a:rPr lang="el-GR" b="1" dirty="0">
                          <a:effectLst/>
                        </a:rPr>
                        <a:t>Δ</a:t>
                      </a:r>
                      <a:r>
                        <a:rPr lang="en-GB" b="1" i="1" dirty="0">
                          <a:effectLst/>
                        </a:rPr>
                        <a:t>I</a:t>
                      </a:r>
                      <a:r>
                        <a:rPr lang="en-GB" b="1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Inf</a:t>
                      </a:r>
                      <a:r>
                        <a:rPr lang="hr-HR" b="0" i="0" dirty="0" err="1">
                          <a:effectLst/>
                        </a:rPr>
                        <a:t>ekcija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(−1,  + 1)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979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Smrt ili Oporavak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GB" b="0" i="0" dirty="0">
                          <a:effectLst/>
                        </a:rPr>
                        <a:t>(0, −1)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73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Rođenje i smrt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(1, -1)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79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Rođenje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hr-HR" b="0" i="0" dirty="0">
                          <a:effectLst/>
                        </a:rPr>
                        <a:t>(1, 0)</a:t>
                      </a:r>
                      <a:endParaRPr lang="en-GB" b="0" i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07335"/>
                  </a:ext>
                </a:extLst>
              </a:tr>
            </a:tbl>
          </a:graphicData>
        </a:graphic>
      </p:graphicFrame>
      <p:sp>
        <p:nvSpPr>
          <p:cNvPr id="11" name="TekstniOkvir 10">
            <a:extLst>
              <a:ext uri="{FF2B5EF4-FFF2-40B4-BE49-F238E27FC236}">
                <a16:creationId xmlns:a16="http://schemas.microsoft.com/office/drawing/2014/main" id="{4E7D8C09-0F1A-7808-E7B1-A7B2B8114575}"/>
              </a:ext>
            </a:extLst>
          </p:cNvPr>
          <p:cNvSpPr txBox="1"/>
          <p:nvPr/>
        </p:nvSpPr>
        <p:spPr>
          <a:xfrm>
            <a:off x="8213428" y="4360330"/>
            <a:ext cx="38122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S(0) = N − </a:t>
            </a:r>
            <a:r>
              <a:rPr lang="en-GB" sz="1800" b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 </a:t>
            </a:r>
            <a:r>
              <a:rPr lang="hr-HR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,   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I(0) = </a:t>
            </a:r>
            <a:r>
              <a:rPr lang="en-GB" sz="1800" b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i</a:t>
            </a:r>
            <a:r>
              <a:rPr lang="en-GB" sz="1800" b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 &gt; 0</a:t>
            </a:r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</a:t>
            </a:r>
            <a:r>
              <a:rPr lang="hr-HR" dirty="0">
                <a:latin typeface="MathJax_Main"/>
              </a:rPr>
              <a:t>t dovoljno velik da se dogodi jedna smrt, rođenje, infekcija ili opravak</a:t>
            </a:r>
          </a:p>
          <a:p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∆S = S</a:t>
            </a:r>
            <a:r>
              <a:rPr lang="en-GB" sz="1200" dirty="0">
                <a:latin typeface="MathJax_Main"/>
              </a:rPr>
              <a:t>t+∆t </a:t>
            </a:r>
            <a:r>
              <a:rPr lang="en-GB" dirty="0">
                <a:latin typeface="MathJax_Main"/>
              </a:rPr>
              <a:t>−S</a:t>
            </a:r>
            <a:r>
              <a:rPr lang="en-GB" sz="1200" dirty="0">
                <a:latin typeface="MathJax_Main"/>
              </a:rPr>
              <a:t>t</a:t>
            </a:r>
            <a:r>
              <a:rPr lang="en-GB" dirty="0">
                <a:latin typeface="MathJax_Main"/>
              </a:rPr>
              <a:t> </a:t>
            </a:r>
            <a:endParaRPr lang="hr-HR" dirty="0">
              <a:latin typeface="MathJax_Main"/>
            </a:endParaRPr>
          </a:p>
          <a:p>
            <a:r>
              <a:rPr lang="en-GB" dirty="0">
                <a:latin typeface="MathJax_Main"/>
              </a:rPr>
              <a:t>∆I = I</a:t>
            </a:r>
            <a:r>
              <a:rPr lang="en-GB" sz="1200" dirty="0">
                <a:latin typeface="MathJax_Main"/>
              </a:rPr>
              <a:t>t+∆t </a:t>
            </a:r>
            <a:r>
              <a:rPr lang="en-GB" dirty="0">
                <a:latin typeface="MathJax_Main"/>
              </a:rPr>
              <a:t>− I</a:t>
            </a:r>
            <a:r>
              <a:rPr lang="en-GB" sz="1200" dirty="0">
                <a:latin typeface="MathJax_Main"/>
              </a:rPr>
              <a:t>t</a:t>
            </a:r>
            <a:endParaRPr lang="en-GB" dirty="0">
              <a:latin typeface="MathJax_Main"/>
            </a:endParaRPr>
          </a:p>
          <a:p>
            <a:endParaRPr lang="en-GB" dirty="0">
              <a:latin typeface="MathJax_Main"/>
            </a:endParaRPr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381691BB-05DD-46C2-5CDD-7068DDD7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504" y="1926700"/>
            <a:ext cx="238044" cy="2516839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C8BE1AC8-9225-A9D5-216C-37DA725F6EBF}"/>
              </a:ext>
            </a:extLst>
          </p:cNvPr>
          <p:cNvSpPr txBox="1"/>
          <p:nvPr/>
        </p:nvSpPr>
        <p:spPr>
          <a:xfrm>
            <a:off x="811164" y="5058349"/>
            <a:ext cx="6553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s,i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t+Δt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=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(s+1,i−1)</a:t>
            </a:r>
            <a:r>
              <a:rPr kumimoji="0" lang="hr-HR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t)β(s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1)(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i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−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1)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N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(s,i+1)</a:t>
            </a:r>
            <a:r>
              <a:rPr kumimoji="0" lang="hr-HR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(t)γ(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i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+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1)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                      +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(s−1,i+1)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b(i + 1)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/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N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+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</a:t>
            </a:r>
            <a:r>
              <a:rPr kumimoji="0" lang="hr-H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-1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(t)[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 – s + 1 - i]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endParaRPr kumimoji="0" lang="hr-HR" altLang="en-US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         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lang="hr-HR" altLang="en-US" dirty="0">
                <a:solidFill>
                  <a:srgbClr val="212121"/>
                </a:solidFill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1− 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[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β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/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Nsi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+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γi</a:t>
            </a:r>
            <a:r>
              <a:rPr kumimoji="0" lang="hr-H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b(N-s)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</a:rPr>
              <a:t>]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 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o(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</a:t>
            </a:r>
            <a:endParaRPr kumimoji="0" lang="hr-HR" altLang="en-US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MathJax_Main"/>
            </a:endParaRPr>
          </a:p>
        </p:txBody>
      </p:sp>
    </p:spTree>
    <p:extLst>
      <p:ext uri="{BB962C8B-B14F-4D97-AF65-F5344CB8AC3E}">
        <p14:creationId xmlns:p14="http://schemas.microsoft.com/office/powerpoint/2010/main" val="107419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C95A896-7DAD-7F65-1ED9-B57C6049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122405"/>
            <a:ext cx="10058400" cy="1450757"/>
          </a:xfrm>
        </p:spPr>
        <p:txBody>
          <a:bodyPr/>
          <a:lstStyle/>
          <a:p>
            <a:r>
              <a:rPr lang="hr-HR" dirty="0" err="1"/>
              <a:t>Kolmogorovljeva</a:t>
            </a:r>
            <a:r>
              <a:rPr lang="hr-HR" dirty="0"/>
              <a:t> </a:t>
            </a:r>
            <a:r>
              <a:rPr lang="hr-HR" dirty="0" err="1"/>
              <a:t>jednađba</a:t>
            </a:r>
            <a:r>
              <a:rPr lang="hr-HR" dirty="0"/>
              <a:t> unaprijed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99E1072-4046-216F-BDF9-46000C12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22" y="1573162"/>
            <a:ext cx="4981023" cy="468922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r-HR" altLang="en-US" sz="1800" dirty="0">
              <a:solidFill>
                <a:srgbClr val="212121"/>
              </a:solidFill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en-US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lang="hr-HR" altLang="en-US" dirty="0" err="1">
                <a:solidFill>
                  <a:srgbClr val="212121"/>
                </a:solidFill>
                <a:latin typeface="MathJax_Main"/>
              </a:rPr>
              <a:t>Kolmogorovljeva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diferencijalne </a:t>
            </a:r>
            <a:r>
              <a:rPr lang="hr-HR" altLang="en-US" dirty="0" err="1">
                <a:solidFill>
                  <a:srgbClr val="212121"/>
                </a:solidFill>
                <a:latin typeface="MathJax_Main"/>
              </a:rPr>
              <a:t>jednađbe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:</a:t>
            </a:r>
          </a:p>
          <a:p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hr-H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dt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=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(s+1,i−1)</a:t>
            </a:r>
            <a:r>
              <a:rPr kumimoji="0" lang="hr-H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t)β(s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−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                   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(s,i+1)</a:t>
            </a:r>
            <a:r>
              <a:rPr kumimoji="0" lang="hr-H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(t)γ(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1)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                     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(s−1,i+1)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b(i + 1)/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                      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(s</a:t>
            </a:r>
            <a:r>
              <a:rPr kumimoji="0" lang="hr-H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-1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,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(t)[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 – s + 1 - i]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        +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(t)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[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β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Nsi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+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γi</a:t>
            </a:r>
            <a:r>
              <a:rPr kumimoji="0" lang="hr-H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+ b(N-s)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]</a:t>
            </a:r>
            <a:endParaRPr kumimoji="0" lang="hr-H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MathJax_Main"/>
              <a:ea typeface="+mn-ea"/>
              <a:cs typeface="+mn-cs"/>
            </a:endParaRPr>
          </a:p>
          <a:p>
            <a:endParaRPr lang="en-GB" dirty="0">
              <a:latin typeface="MathJax_Main"/>
            </a:endParaRPr>
          </a:p>
        </p:txBody>
      </p:sp>
    </p:spTree>
    <p:extLst>
      <p:ext uri="{BB962C8B-B14F-4D97-AF65-F5344CB8AC3E}">
        <p14:creationId xmlns:p14="http://schemas.microsoft.com/office/powerpoint/2010/main" val="380373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54CE42D-2A6F-0353-2878-95C44DD1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Vjerojatnost izbijanja epidemije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721035E-2F1E-9995-34CE-605AD38A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  Formalno, izbijanje epidemije – bolest zahvati velik N</a:t>
            </a:r>
            <a:r>
              <a:rPr lang="hr-HR" sz="1200" dirty="0"/>
              <a:t>0 </a:t>
            </a:r>
            <a:r>
              <a:rPr lang="hr-HR" dirty="0"/>
              <a:t> ljudi</a:t>
            </a:r>
          </a:p>
          <a:p>
            <a:pPr marL="0" indent="0">
              <a:buNone/>
            </a:pPr>
            <a:r>
              <a:rPr lang="hr-HR" dirty="0"/>
              <a:t>  - I(0) je mali broj, veći od 0</a:t>
            </a:r>
          </a:p>
          <a:p>
            <a:pPr marL="0" indent="0">
              <a:buNone/>
            </a:pPr>
            <a:r>
              <a:rPr lang="hr-HR" dirty="0"/>
              <a:t>  - b = 0, radi jednostavnosti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hr-HR" dirty="0"/>
              <a:t> - </a:t>
            </a:r>
            <a:r>
              <a:rPr lang="en-GB" dirty="0"/>
              <a:t>0 and N</a:t>
            </a:r>
            <a:r>
              <a:rPr lang="en-GB" sz="1200" dirty="0"/>
              <a:t>0</a:t>
            </a:r>
            <a:r>
              <a:rPr lang="en-GB" dirty="0"/>
              <a:t> &lt;&lt; N</a:t>
            </a:r>
            <a:r>
              <a:rPr lang="hr-HR" dirty="0"/>
              <a:t> su tu rubni slučajevi s</a:t>
            </a:r>
            <a:r>
              <a:rPr lang="en-GB" dirty="0"/>
              <a:t> p</a:t>
            </a:r>
            <a:r>
              <a:rPr lang="en-GB" sz="1100" dirty="0"/>
              <a:t>00</a:t>
            </a:r>
            <a:r>
              <a:rPr lang="en-GB" dirty="0"/>
              <a:t> = p</a:t>
            </a:r>
            <a:r>
              <a:rPr lang="en-GB" sz="1200" dirty="0"/>
              <a:t>N</a:t>
            </a:r>
            <a:r>
              <a:rPr lang="en-GB" sz="900" dirty="0"/>
              <a:t>0</a:t>
            </a:r>
            <a:r>
              <a:rPr lang="en-GB" sz="1200" dirty="0"/>
              <a:t>N</a:t>
            </a:r>
            <a:r>
              <a:rPr lang="en-GB" sz="900" dirty="0"/>
              <a:t>0</a:t>
            </a:r>
            <a:r>
              <a:rPr lang="en-GB" dirty="0"/>
              <a:t> = 1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- 0 – nema izbijanja, bolest se ne proširi dovoljno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- V</a:t>
            </a:r>
            <a:r>
              <a:rPr lang="en-GB" dirty="0" err="1"/>
              <a:t>jerojatnost</a:t>
            </a:r>
            <a:r>
              <a:rPr lang="en-GB" dirty="0"/>
              <a:t> da </a:t>
            </a:r>
            <a:r>
              <a:rPr lang="hr-HR" dirty="0"/>
              <a:t>sustav </a:t>
            </a:r>
            <a:r>
              <a:rPr lang="en-GB" dirty="0" err="1"/>
              <a:t>počne</a:t>
            </a:r>
            <a:r>
              <a:rPr lang="en-GB" dirty="0"/>
              <a:t> s k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završi</a:t>
            </a:r>
            <a:r>
              <a:rPr lang="en-GB" dirty="0"/>
              <a:t> s N </a:t>
            </a:r>
            <a:r>
              <a:rPr lang="en-GB" dirty="0" err="1"/>
              <a:t>zaraženih</a:t>
            </a:r>
            <a:r>
              <a:rPr lang="hr-HR" dirty="0"/>
              <a:t> je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29293DA1-C5AD-7ADC-2616-F7B34D34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115" y="4610512"/>
            <a:ext cx="2446652" cy="1204791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AEF6B5C3-D093-571E-B977-0B689611D5EA}"/>
              </a:ext>
            </a:extLst>
          </p:cNvPr>
          <p:cNvSpPr txBox="1"/>
          <p:nvPr/>
        </p:nvSpPr>
        <p:spPr>
          <a:xfrm>
            <a:off x="4285870" y="5028241"/>
            <a:ext cx="304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Rješenje samo ako (Ako q &lt; p):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15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202EC4A-BC0A-505A-A160-2AF9F8BB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8450"/>
            <a:ext cx="10058400" cy="1450757"/>
          </a:xfrm>
        </p:spPr>
        <p:txBody>
          <a:bodyPr/>
          <a:lstStyle/>
          <a:p>
            <a:r>
              <a:rPr lang="hr-HR" dirty="0"/>
              <a:t>Vjerojatnost izbijanja epidemije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8BCF69C-EEA9-6915-0CEA-0E0BD769B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717" y="1761451"/>
            <a:ext cx="10058400" cy="4023360"/>
          </a:xfrm>
        </p:spPr>
        <p:txBody>
          <a:bodyPr>
            <a:normAutofit/>
          </a:bodyPr>
          <a:lstStyle/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en-GB" dirty="0" err="1"/>
              <a:t>y</a:t>
            </a:r>
            <a:r>
              <a:rPr lang="en-GB" sz="1200" dirty="0" err="1"/>
              <a:t>n</a:t>
            </a:r>
            <a:r>
              <a:rPr lang="hr-HR" sz="1200" dirty="0"/>
              <a:t> </a:t>
            </a:r>
            <a:r>
              <a:rPr lang="hr-HR" dirty="0"/>
              <a:t>– broj inficiranih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Δt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 </a:t>
            </a:r>
            <a:r>
              <a:rPr lang="hr-HR" altLang="en-US" dirty="0">
                <a:solidFill>
                  <a:srgbClr val="212121"/>
                </a:solidFill>
                <a:latin typeface="MathJax_Main"/>
              </a:rPr>
              <a:t>= </a:t>
            </a:r>
            <a:r>
              <a:rPr lang="hr-HR" dirty="0"/>
              <a:t>n, </a:t>
            </a:r>
            <a:r>
              <a:rPr lang="en-GB" dirty="0"/>
              <a:t>{</a:t>
            </a:r>
            <a:r>
              <a:rPr lang="en-GB" dirty="0" err="1"/>
              <a:t>yn</a:t>
            </a:r>
            <a:r>
              <a:rPr lang="en-GB" dirty="0"/>
              <a:t>} </a:t>
            </a:r>
            <a:r>
              <a:rPr lang="hr-HR" dirty="0"/>
              <a:t>je</a:t>
            </a:r>
            <a:r>
              <a:rPr lang="en-GB" dirty="0"/>
              <a:t> di</a:t>
            </a:r>
            <a:r>
              <a:rPr lang="hr-HR" dirty="0" err="1"/>
              <a:t>skretni</a:t>
            </a:r>
            <a:r>
              <a:rPr lang="hr-HR" dirty="0"/>
              <a:t> </a:t>
            </a:r>
            <a:r>
              <a:rPr lang="en-GB" dirty="0"/>
              <a:t>Markov</a:t>
            </a:r>
            <a:r>
              <a:rPr lang="hr-HR" dirty="0" err="1"/>
              <a:t>ljev</a:t>
            </a:r>
            <a:r>
              <a:rPr lang="hr-HR" dirty="0"/>
              <a:t> lanac sa:  P</a:t>
            </a:r>
          </a:p>
          <a:p>
            <a:endParaRPr lang="hr-HR" sz="800" dirty="0"/>
          </a:p>
          <a:p>
            <a:r>
              <a:rPr lang="hr-HR" dirty="0"/>
              <a:t>                                                                                               p = P</a:t>
            </a:r>
          </a:p>
          <a:p>
            <a:endParaRPr lang="hr-HR" sz="100" dirty="0"/>
          </a:p>
          <a:p>
            <a:r>
              <a:rPr lang="hr-HR" dirty="0"/>
              <a:t>                                                                                               q = P</a:t>
            </a:r>
          </a:p>
          <a:p>
            <a:endParaRPr lang="en-GB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4C0EE34-251E-7B86-CA9E-0856D6EFA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26" y="2212977"/>
            <a:ext cx="2446652" cy="1204791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E06539A9-0B79-1E5C-F5D8-C4D2484D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82" y="4210927"/>
            <a:ext cx="3621534" cy="1207178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13A63819-57FB-A064-CE1C-8E522289C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938" y="3383198"/>
            <a:ext cx="3018019" cy="801009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145BE8D6-E805-B1EA-E1F0-EA683F46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104" y="2124162"/>
            <a:ext cx="2619741" cy="1400370"/>
          </a:xfrm>
          <a:prstGeom prst="rect">
            <a:avLst/>
          </a:prstGeom>
        </p:spPr>
      </p:pic>
      <p:sp>
        <p:nvSpPr>
          <p:cNvPr id="16" name="TekstniOkvir 15">
            <a:extLst>
              <a:ext uri="{FF2B5EF4-FFF2-40B4-BE49-F238E27FC236}">
                <a16:creationId xmlns:a16="http://schemas.microsoft.com/office/drawing/2014/main" id="{1DEDB63A-4705-2578-A457-7C186D26ED1F}"/>
              </a:ext>
            </a:extLst>
          </p:cNvPr>
          <p:cNvSpPr txBox="1"/>
          <p:nvPr/>
        </p:nvSpPr>
        <p:spPr>
          <a:xfrm>
            <a:off x="3784841" y="264121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ym typeface="Wingdings" panose="05000000000000000000" pitchFamily="2" charset="2"/>
              </a:rPr>
              <a:t></a:t>
            </a:r>
            <a:endParaRPr lang="en-GB" dirty="0"/>
          </a:p>
        </p:txBody>
      </p:sp>
      <p:sp>
        <p:nvSpPr>
          <p:cNvPr id="25" name="Rezervirano mjesto sadržaja 2">
            <a:extLst>
              <a:ext uri="{FF2B5EF4-FFF2-40B4-BE49-F238E27FC236}">
                <a16:creationId xmlns:a16="http://schemas.microsoft.com/office/drawing/2014/main" id="{41CE45D8-2EE4-34E0-FAD0-8066B0D8D9AF}"/>
              </a:ext>
            </a:extLst>
          </p:cNvPr>
          <p:cNvSpPr txBox="1">
            <a:spLocks/>
          </p:cNvSpPr>
          <p:nvPr/>
        </p:nvSpPr>
        <p:spPr>
          <a:xfrm>
            <a:off x="1060547" y="4610731"/>
            <a:ext cx="4180048" cy="171858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altLang="en-US" sz="18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endParaRPr lang="hr-HR" sz="7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endParaRPr lang="hr-HR" sz="7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endParaRPr lang="hr-HR" sz="7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pPr marL="0" indent="0">
              <a:buNone/>
            </a:pPr>
            <a:endParaRPr lang="pl-PL" sz="1600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endParaRPr lang="en-GB" dirty="0">
              <a:latin typeface="MathJax_Main"/>
            </a:endParaRPr>
          </a:p>
        </p:txBody>
      </p:sp>
      <p:sp>
        <p:nvSpPr>
          <p:cNvPr id="30" name="TekstniOkvir 29">
            <a:extLst>
              <a:ext uri="{FF2B5EF4-FFF2-40B4-BE49-F238E27FC236}">
                <a16:creationId xmlns:a16="http://schemas.microsoft.com/office/drawing/2014/main" id="{E52BB9D5-76E9-8C5F-C4B3-1FF94AF28A7D}"/>
              </a:ext>
            </a:extLst>
          </p:cNvPr>
          <p:cNvSpPr txBox="1"/>
          <p:nvPr/>
        </p:nvSpPr>
        <p:spPr>
          <a:xfrm>
            <a:off x="1060547" y="5304986"/>
            <a:ext cx="2619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</a:t>
            </a:r>
            <a:r>
              <a:rPr lang="hr-HR" sz="1200" dirty="0"/>
              <a:t>0</a:t>
            </a:r>
            <a:r>
              <a:rPr lang="pt-BR" dirty="0"/>
              <a:t> &lt;&lt; N</a:t>
            </a:r>
            <a:r>
              <a:rPr lang="hr-HR" dirty="0"/>
              <a:t>, </a:t>
            </a:r>
            <a:r>
              <a:rPr lang="pt-BR" dirty="0"/>
              <a:t> i ≤ N</a:t>
            </a:r>
            <a:r>
              <a:rPr lang="hr-HR" sz="1200" dirty="0"/>
              <a:t>0   </a:t>
            </a:r>
            <a:r>
              <a:rPr lang="hr-HR" dirty="0">
                <a:sym typeface="Wingdings" panose="05000000000000000000" pitchFamily="2" charset="2"/>
              </a:rPr>
              <a:t>  i &lt;&lt; N, pa s/N ~ 1</a:t>
            </a:r>
            <a:endParaRPr lang="en-GB" dirty="0"/>
          </a:p>
        </p:txBody>
      </p:sp>
      <p:sp>
        <p:nvSpPr>
          <p:cNvPr id="32" name="TekstniOkvir 31">
            <a:extLst>
              <a:ext uri="{FF2B5EF4-FFF2-40B4-BE49-F238E27FC236}">
                <a16:creationId xmlns:a16="http://schemas.microsoft.com/office/drawing/2014/main" id="{A3497758-5E73-8AD4-30DD-FED9387B2B52}"/>
              </a:ext>
            </a:extLst>
          </p:cNvPr>
          <p:cNvSpPr txBox="1"/>
          <p:nvPr/>
        </p:nvSpPr>
        <p:spPr>
          <a:xfrm>
            <a:off x="1730478" y="5628124"/>
            <a:ext cx="275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>
                <a:sym typeface="Wingdings" panose="05000000000000000000" pitchFamily="2" charset="2"/>
              </a:rPr>
              <a:t>~</a:t>
            </a:r>
            <a:endParaRPr lang="en-GB" dirty="0"/>
          </a:p>
        </p:txBody>
      </p:sp>
      <p:sp>
        <p:nvSpPr>
          <p:cNvPr id="33" name="TekstniOkvir 32">
            <a:extLst>
              <a:ext uri="{FF2B5EF4-FFF2-40B4-BE49-F238E27FC236}">
                <a16:creationId xmlns:a16="http://schemas.microsoft.com/office/drawing/2014/main" id="{B954B0D8-FBC6-6DC7-B680-8B0AF15F542E}"/>
              </a:ext>
            </a:extLst>
          </p:cNvPr>
          <p:cNvSpPr txBox="1"/>
          <p:nvPr/>
        </p:nvSpPr>
        <p:spPr>
          <a:xfrm>
            <a:off x="7460872" y="263478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ym typeface="Wingdings" panose="05000000000000000000" pitchFamily="2" charset="2"/>
              </a:rPr>
              <a:t></a:t>
            </a:r>
            <a:endParaRPr lang="en-GB" dirty="0"/>
          </a:p>
        </p:txBody>
      </p:sp>
      <p:sp>
        <p:nvSpPr>
          <p:cNvPr id="34" name="TekstniOkvir 33">
            <a:extLst>
              <a:ext uri="{FF2B5EF4-FFF2-40B4-BE49-F238E27FC236}">
                <a16:creationId xmlns:a16="http://schemas.microsoft.com/office/drawing/2014/main" id="{7CB743BE-2E93-E496-4BA3-74478947BB67}"/>
              </a:ext>
            </a:extLst>
          </p:cNvPr>
          <p:cNvSpPr txBox="1"/>
          <p:nvPr/>
        </p:nvSpPr>
        <p:spPr>
          <a:xfrm>
            <a:off x="7271282" y="238072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 </a:t>
            </a:r>
            <a:r>
              <a:rPr lang="hr-HR" sz="1600" dirty="0"/>
              <a:t>n</a:t>
            </a:r>
            <a:r>
              <a:rPr lang="hr-HR" sz="1000" dirty="0"/>
              <a:t> </a:t>
            </a:r>
            <a:r>
              <a:rPr lang="hr-HR" sz="1100" dirty="0">
                <a:sym typeface="Wingdings" panose="05000000000000000000" pitchFamily="2" charset="2"/>
              </a:rPr>
              <a:t> </a:t>
            </a:r>
            <a:r>
              <a:rPr lang="en-GB" sz="1800" dirty="0">
                <a:solidFill>
                  <a:schemeClr val="tx1"/>
                </a:solidFill>
                <a:latin typeface="MathJax_Main"/>
              </a:rPr>
              <a:t>∞</a:t>
            </a:r>
            <a:endParaRPr lang="en-GB" dirty="0"/>
          </a:p>
        </p:txBody>
      </p:sp>
      <p:pic>
        <p:nvPicPr>
          <p:cNvPr id="36" name="Slika 35">
            <a:extLst>
              <a:ext uri="{FF2B5EF4-FFF2-40B4-BE49-F238E27FC236}">
                <a16:creationId xmlns:a16="http://schemas.microsoft.com/office/drawing/2014/main" id="{317A7B59-4399-6662-6807-1E7F1D5CD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9861" y="2401787"/>
            <a:ext cx="2268114" cy="909244"/>
          </a:xfrm>
          <a:prstGeom prst="rect">
            <a:avLst/>
          </a:prstGeom>
        </p:spPr>
      </p:pic>
      <p:sp>
        <p:nvSpPr>
          <p:cNvPr id="40" name="TekstniOkvir 39">
            <a:extLst>
              <a:ext uri="{FF2B5EF4-FFF2-40B4-BE49-F238E27FC236}">
                <a16:creationId xmlns:a16="http://schemas.microsoft.com/office/drawing/2014/main" id="{53540030-2A03-8269-9AFE-952D5A19B6FF}"/>
              </a:ext>
            </a:extLst>
          </p:cNvPr>
          <p:cNvSpPr txBox="1"/>
          <p:nvPr/>
        </p:nvSpPr>
        <p:spPr>
          <a:xfrm>
            <a:off x="890803" y="4393953"/>
            <a:ext cx="5205197" cy="71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p(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s,i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),(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s+k,i+j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Δt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=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βis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/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NΔt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,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k,j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)=(−1,+1)</a:t>
            </a:r>
            <a:endParaRPr kumimoji="0" lang="pl-PL" sz="16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highlight>
                <a:srgbClr val="FFFFFF"/>
              </a:highlight>
              <a:uLnTx/>
              <a:uFillTx/>
              <a:latin typeface="MathJax_Main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                                   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γiΔt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,                  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(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k,j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)=(0,−1)</a:t>
            </a:r>
            <a:r>
              <a:rPr kumimoji="0" lang="hr-H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 </a:t>
            </a:r>
          </a:p>
        </p:txBody>
      </p:sp>
      <p:pic>
        <p:nvPicPr>
          <p:cNvPr id="42" name="Slika 41">
            <a:extLst>
              <a:ext uri="{FF2B5EF4-FFF2-40B4-BE49-F238E27FC236}">
                <a16:creationId xmlns:a16="http://schemas.microsoft.com/office/drawing/2014/main" id="{4C40F44A-ED44-CAF7-A620-02BBDE33E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1967" y="4330098"/>
            <a:ext cx="188885" cy="80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5B0748A-5652-DB33-1993-493BC2BB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Vjerojatnost izbijanja epidemije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C72A35F-5D99-4D59-63AB-DE1289719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  <a:p>
            <a:endParaRPr lang="en-GB" dirty="0"/>
          </a:p>
        </p:txBody>
      </p:sp>
      <p:sp>
        <p:nvSpPr>
          <p:cNvPr id="12" name="Rezervirano mjesto sadržaja 2">
            <a:extLst>
              <a:ext uri="{FF2B5EF4-FFF2-40B4-BE49-F238E27FC236}">
                <a16:creationId xmlns:a16="http://schemas.microsoft.com/office/drawing/2014/main" id="{03E333C6-BEB6-05EF-EE60-76C9EBA9EBBB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en-GB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2FD706B4-5343-F541-5283-A08200FE7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70" t="-1197" r="85599" b="1197"/>
          <a:stretch/>
        </p:blipFill>
        <p:spPr>
          <a:xfrm>
            <a:off x="1036321" y="1845734"/>
            <a:ext cx="881379" cy="114316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C170CC8E-BDA8-0E55-F591-2B540611B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2963413"/>
            <a:ext cx="903411" cy="572510"/>
          </a:xfrm>
          <a:prstGeom prst="rect">
            <a:avLst/>
          </a:prstGeom>
        </p:spPr>
      </p:pic>
      <p:pic>
        <p:nvPicPr>
          <p:cNvPr id="22" name="Slika 21">
            <a:extLst>
              <a:ext uri="{FF2B5EF4-FFF2-40B4-BE49-F238E27FC236}">
                <a16:creationId xmlns:a16="http://schemas.microsoft.com/office/drawing/2014/main" id="{DFFAA709-C845-65C7-1BBE-BEAABD8B06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251"/>
          <a:stretch/>
        </p:blipFill>
        <p:spPr>
          <a:xfrm>
            <a:off x="1936779" y="3429000"/>
            <a:ext cx="2434291" cy="1391102"/>
          </a:xfrm>
          <a:prstGeom prst="rect">
            <a:avLst/>
          </a:prstGeom>
        </p:spPr>
      </p:pic>
      <p:pic>
        <p:nvPicPr>
          <p:cNvPr id="23" name="Slika 22">
            <a:extLst>
              <a:ext uri="{FF2B5EF4-FFF2-40B4-BE49-F238E27FC236}">
                <a16:creationId xmlns:a16="http://schemas.microsoft.com/office/drawing/2014/main" id="{43E65495-3978-470F-FB3A-03F2A14BD8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17"/>
          <a:stretch/>
        </p:blipFill>
        <p:spPr>
          <a:xfrm>
            <a:off x="1917700" y="1852658"/>
            <a:ext cx="4539317" cy="1143160"/>
          </a:xfrm>
          <a:prstGeom prst="rect">
            <a:avLst/>
          </a:prstGeom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id="{32712468-C0A9-755B-BB8D-8A7D53C19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70" t="-1197" r="85599" b="1197"/>
          <a:stretch/>
        </p:blipFill>
        <p:spPr>
          <a:xfrm>
            <a:off x="1055400" y="3552971"/>
            <a:ext cx="881379" cy="1143160"/>
          </a:xfrm>
          <a:prstGeom prst="rect">
            <a:avLst/>
          </a:prstGeom>
        </p:spPr>
      </p:pic>
      <p:pic>
        <p:nvPicPr>
          <p:cNvPr id="26" name="Slika 25">
            <a:extLst>
              <a:ext uri="{FF2B5EF4-FFF2-40B4-BE49-F238E27FC236}">
                <a16:creationId xmlns:a16="http://schemas.microsoft.com/office/drawing/2014/main" id="{19AD816C-AFA7-81C9-CFBB-1D18A0290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470" y="3661863"/>
            <a:ext cx="939526" cy="1034268"/>
          </a:xfrm>
          <a:prstGeom prst="rect">
            <a:avLst/>
          </a:prstGeom>
        </p:spPr>
      </p:pic>
      <p:pic>
        <p:nvPicPr>
          <p:cNvPr id="28" name="Slika 27">
            <a:extLst>
              <a:ext uri="{FF2B5EF4-FFF2-40B4-BE49-F238E27FC236}">
                <a16:creationId xmlns:a16="http://schemas.microsoft.com/office/drawing/2014/main" id="{9E737E68-48D9-AA45-402E-28017D60E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255" y="3448807"/>
            <a:ext cx="2728374" cy="1460380"/>
          </a:xfrm>
          <a:prstGeom prst="rect">
            <a:avLst/>
          </a:prstGeom>
        </p:spPr>
      </p:pic>
      <p:pic>
        <p:nvPicPr>
          <p:cNvPr id="30" name="Slika 29">
            <a:extLst>
              <a:ext uri="{FF2B5EF4-FFF2-40B4-BE49-F238E27FC236}">
                <a16:creationId xmlns:a16="http://schemas.microsoft.com/office/drawing/2014/main" id="{CA707875-B462-C437-CAD3-C718D2D722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1220" b="-5293"/>
          <a:stretch/>
        </p:blipFill>
        <p:spPr>
          <a:xfrm>
            <a:off x="5462996" y="4053302"/>
            <a:ext cx="281939" cy="230959"/>
          </a:xfrm>
          <a:prstGeom prst="rect">
            <a:avLst/>
          </a:prstGeom>
        </p:spPr>
      </p:pic>
      <p:pic>
        <p:nvPicPr>
          <p:cNvPr id="35" name="Slika 34">
            <a:extLst>
              <a:ext uri="{FF2B5EF4-FFF2-40B4-BE49-F238E27FC236}">
                <a16:creationId xmlns:a16="http://schemas.microsoft.com/office/drawing/2014/main" id="{CE319909-2EFF-DD10-0323-D2FA2E565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7648" y="5028246"/>
            <a:ext cx="1400370" cy="1209844"/>
          </a:xfrm>
          <a:prstGeom prst="rect">
            <a:avLst/>
          </a:prstGeom>
        </p:spPr>
      </p:pic>
      <p:pic>
        <p:nvPicPr>
          <p:cNvPr id="36" name="Slika 35">
            <a:extLst>
              <a:ext uri="{FF2B5EF4-FFF2-40B4-BE49-F238E27FC236}">
                <a16:creationId xmlns:a16="http://schemas.microsoft.com/office/drawing/2014/main" id="{12961A68-2D8D-5714-F698-BE158E5AD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977" y="5122041"/>
            <a:ext cx="939526" cy="1034268"/>
          </a:xfrm>
          <a:prstGeom prst="rect">
            <a:avLst/>
          </a:prstGeom>
        </p:spPr>
      </p:pic>
      <p:pic>
        <p:nvPicPr>
          <p:cNvPr id="38" name="Slika 37">
            <a:extLst>
              <a:ext uri="{FF2B5EF4-FFF2-40B4-BE49-F238E27FC236}">
                <a16:creationId xmlns:a16="http://schemas.microsoft.com/office/drawing/2014/main" id="{09C7CB27-1664-F11C-7F7E-EF3153D38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8931" y="5409571"/>
            <a:ext cx="1508319" cy="462985"/>
          </a:xfrm>
          <a:prstGeom prst="rect">
            <a:avLst/>
          </a:prstGeom>
        </p:spPr>
      </p:pic>
      <p:pic>
        <p:nvPicPr>
          <p:cNvPr id="39" name="Slika 38">
            <a:extLst>
              <a:ext uri="{FF2B5EF4-FFF2-40B4-BE49-F238E27FC236}">
                <a16:creationId xmlns:a16="http://schemas.microsoft.com/office/drawing/2014/main" id="{9C159570-39AD-AEE3-204D-332FE1BB58C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1220" b="-5293"/>
          <a:stretch/>
        </p:blipFill>
        <p:spPr>
          <a:xfrm>
            <a:off x="2871985" y="5494281"/>
            <a:ext cx="281939" cy="230959"/>
          </a:xfrm>
          <a:prstGeom prst="rect">
            <a:avLst/>
          </a:prstGeom>
        </p:spPr>
      </p:pic>
      <p:pic>
        <p:nvPicPr>
          <p:cNvPr id="48" name="Slika 47">
            <a:extLst>
              <a:ext uri="{FF2B5EF4-FFF2-40B4-BE49-F238E27FC236}">
                <a16:creationId xmlns:a16="http://schemas.microsoft.com/office/drawing/2014/main" id="{36CACD9F-4554-97D8-18C5-D8DF0E56BC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1097" y="5410879"/>
            <a:ext cx="756033" cy="449871"/>
          </a:xfrm>
          <a:prstGeom prst="rect">
            <a:avLst/>
          </a:prstGeom>
        </p:spPr>
      </p:pic>
      <p:sp>
        <p:nvSpPr>
          <p:cNvPr id="49" name="TekstniOkvir 48">
            <a:extLst>
              <a:ext uri="{FF2B5EF4-FFF2-40B4-BE49-F238E27FC236}">
                <a16:creationId xmlns:a16="http://schemas.microsoft.com/office/drawing/2014/main" id="{C0F69AA7-3136-B930-84E2-31C20295B9FF}"/>
              </a:ext>
            </a:extLst>
          </p:cNvPr>
          <p:cNvSpPr txBox="1"/>
          <p:nvPr/>
        </p:nvSpPr>
        <p:spPr>
          <a:xfrm>
            <a:off x="2000457" y="5397393"/>
            <a:ext cx="1153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Izbijanje epidemije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07747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DB6A0B8-746F-B0D6-78DF-2576B8F5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još možemo modelirati?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0CE2604-E38C-0E30-AE04-9475B8126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1540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 Očekivana duljina trajanja epidemije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 Maksimalni broj zaraženih u nekom trenutku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 Konačni broj zaraženih tokom trajanja epidemije</a:t>
            </a:r>
          </a:p>
        </p:txBody>
      </p:sp>
    </p:spTree>
    <p:extLst>
      <p:ext uri="{BB962C8B-B14F-4D97-AF65-F5344CB8AC3E}">
        <p14:creationId xmlns:p14="http://schemas.microsoft.com/office/powerpoint/2010/main" val="1586897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05A3E2-07C7-65E3-6F1E-DE5720C1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Ostali modeli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6FEE5-ED79-991F-5EAF-10A05DE7D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72256"/>
            <a:ext cx="77988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SEIR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-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Dodaje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klasu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Exposed (E) za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inkubaciju</a:t>
            </a:r>
            <a:r>
              <a:rPr lang="hr-HR" altLang="en-US" sz="1800" dirty="0">
                <a:solidFill>
                  <a:schemeClr val="tx1"/>
                </a:solidFill>
                <a:latin typeface="MathJax_Main"/>
              </a:rPr>
              <a:t>, p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rikazuje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zaražene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koji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još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nisu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infektivni</a:t>
            </a: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SIS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-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Nema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dugotrajnog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imuniteta</a:t>
            </a:r>
            <a:r>
              <a:rPr lang="hr-HR" altLang="en-US" sz="1800" dirty="0">
                <a:solidFill>
                  <a:schemeClr val="tx1"/>
                </a:solidFill>
                <a:latin typeface="MathJax_Main"/>
              </a:rPr>
              <a:t>, o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poravljeni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se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vraćaju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u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osjetljive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(S) </a:t>
            </a: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SIRS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-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Dodaje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mogućnost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gubitka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imuniteta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(S-&gt;I-&gt;R-&gt;S)</a:t>
            </a: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, </a:t>
            </a:r>
            <a:r>
              <a:rPr lang="hr-HR" altLang="en-US" sz="1800" dirty="0">
                <a:solidFill>
                  <a:schemeClr val="tx1"/>
                </a:solidFill>
                <a:latin typeface="MathJax_Main"/>
              </a:rPr>
              <a:t>p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rikazuje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ponovnu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infekciju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. </a:t>
            </a: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SAIR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-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Dodaje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klasu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Asimptomatic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(A)</a:t>
            </a: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, p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rikazuje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asimptomatske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infekcije</a:t>
            </a:r>
            <a:endParaRPr kumimoji="0" lang="hr-HR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r-HR" altLang="en-US" sz="1800" dirty="0">
              <a:solidFill>
                <a:schemeClr val="tx1"/>
              </a:solidFill>
              <a:latin typeface="MathJax_Ma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r-H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SIR + cijepljenje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hr-HR" altLang="en-US" sz="1800" dirty="0">
                <a:solidFill>
                  <a:schemeClr val="tx1"/>
                </a:solidFill>
                <a:latin typeface="MathJax_Main"/>
              </a:rPr>
              <a:t>- Uzima se u obzir i stopa cijepljenja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thJax_Main"/>
            </a:endParaRPr>
          </a:p>
        </p:txBody>
      </p:sp>
    </p:spTree>
    <p:extLst>
      <p:ext uri="{BB962C8B-B14F-4D97-AF65-F5344CB8AC3E}">
        <p14:creationId xmlns:p14="http://schemas.microsoft.com/office/powerpoint/2010/main" val="49965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1B9EF67-C225-448A-6F65-5DBE8520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Literatura</a:t>
            </a:r>
            <a:endParaRPr lang="en-GB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8F5087C-DCE0-5572-1BF1-D42649D2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MathJax_Main"/>
              </a:rPr>
              <a:t>Allen LJS. A primer on stochastic epidemic models: Formulation, numerical simulation, and analysis. Infect Dis Model. 2017 Mar 11;2(2):128-142. </a:t>
            </a:r>
            <a:endParaRPr lang="hr-HR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MathJax_Main"/>
            </a:endParaRPr>
          </a:p>
          <a:p>
            <a:endParaRPr lang="hr-HR" dirty="0">
              <a:solidFill>
                <a:srgbClr val="212121"/>
              </a:solidFill>
              <a:highlight>
                <a:srgbClr val="FFFFFF"/>
              </a:highlight>
              <a:latin typeface="MathJax_Main"/>
            </a:endParaRPr>
          </a:p>
          <a:p>
            <a:r>
              <a:rPr lang="en-GB" dirty="0">
                <a:latin typeface="MathJax_Main"/>
              </a:rPr>
              <a:t>Allen, L. J. S. (n.d.). </a:t>
            </a:r>
            <a:r>
              <a:rPr lang="en-GB" i="1" dirty="0">
                <a:latin typeface="MathJax_Main"/>
              </a:rPr>
              <a:t>An Introduction to Stochastic Epidemic Models</a:t>
            </a:r>
            <a:r>
              <a:rPr lang="en-GB" dirty="0">
                <a:latin typeface="MathJax_Main"/>
              </a:rPr>
              <a:t>. Department of Mathematics and Statistics, Texas Tech University, Lubbock, Texas, U.S.A. </a:t>
            </a:r>
            <a:endParaRPr lang="hr-HR" dirty="0">
              <a:latin typeface="MathJax_Main"/>
            </a:endParaRPr>
          </a:p>
          <a:p>
            <a:endParaRPr lang="hr-HR" dirty="0">
              <a:latin typeface="MathJax_Main"/>
            </a:endParaRPr>
          </a:p>
          <a:p>
            <a:r>
              <a:rPr lang="en-GB" dirty="0" err="1"/>
              <a:t>Hethcote</a:t>
            </a:r>
            <a:r>
              <a:rPr lang="en-GB" dirty="0"/>
              <a:t>, Herbert W. ”Three Basic Epidemiological Models.” Applied Mathematical Ecology. Biomathematics, vol 18 (1989): 119-127. A</a:t>
            </a:r>
            <a:endParaRPr lang="en-GB" dirty="0">
              <a:latin typeface="MathJax_Main"/>
            </a:endParaRPr>
          </a:p>
        </p:txBody>
      </p:sp>
    </p:spTree>
    <p:extLst>
      <p:ext uri="{BB962C8B-B14F-4D97-AF65-F5344CB8AC3E}">
        <p14:creationId xmlns:p14="http://schemas.microsoft.com/office/powerpoint/2010/main" val="316980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BAF45E-21B2-9193-5061-E6D3A9674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HVALA NA PAŽNJI!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72451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695</TotalTime>
  <Words>1758</Words>
  <Application>Microsoft Office PowerPoint</Application>
  <PresentationFormat>Široki zaslon</PresentationFormat>
  <Paragraphs>183</Paragraphs>
  <Slides>19</Slides>
  <Notes>2</Notes>
  <HiddenSlides>0</HiddenSlides>
  <MMClips>0</MMClips>
  <ScaleCrop>false</ScaleCrop>
  <HeadingPairs>
    <vt:vector size="6" baseType="variant">
      <vt:variant>
        <vt:lpstr>Korišteni fontovi</vt:lpstr>
      </vt:variant>
      <vt:variant>
        <vt:i4>8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 Math</vt:lpstr>
      <vt:lpstr>MathJax_Main</vt:lpstr>
      <vt:lpstr>Roobert</vt:lpstr>
      <vt:lpstr>Wingdings</vt:lpstr>
      <vt:lpstr>Retrospektiva</vt:lpstr>
      <vt:lpstr>Stohastički procesi u epidemiologiji</vt:lpstr>
      <vt:lpstr>Sadržaj prezentacije</vt:lpstr>
      <vt:lpstr>Uvod</vt:lpstr>
      <vt:lpstr>SIR deterministički model</vt:lpstr>
      <vt:lpstr>Pretpostavke modela</vt:lpstr>
      <vt:lpstr>Deterministički SIR modeli</vt:lpstr>
      <vt:lpstr>R0</vt:lpstr>
      <vt:lpstr>R0</vt:lpstr>
      <vt:lpstr>Stohastički SIR model </vt:lpstr>
      <vt:lpstr>PowerPoint prezentacija</vt:lpstr>
      <vt:lpstr>PowerPoint prezentacija</vt:lpstr>
      <vt:lpstr>Kolmogorovljeva jednađba unaprijed</vt:lpstr>
      <vt:lpstr>Vjerojatnost izbijanja epidemije</vt:lpstr>
      <vt:lpstr>Vjerojatnost izbijanja epidemije</vt:lpstr>
      <vt:lpstr>Vjerojatnost izbijanja epidemije</vt:lpstr>
      <vt:lpstr>Što još možemo modelirati?</vt:lpstr>
      <vt:lpstr>Ostali modeli</vt:lpstr>
      <vt:lpstr>Literatura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Anabel Dautović</dc:creator>
  <cp:lastModifiedBy>Anabel Dautović</cp:lastModifiedBy>
  <cp:revision>9</cp:revision>
  <dcterms:created xsi:type="dcterms:W3CDTF">2024-06-08T19:16:17Z</dcterms:created>
  <dcterms:modified xsi:type="dcterms:W3CDTF">2024-06-09T19:22:20Z</dcterms:modified>
</cp:coreProperties>
</file>